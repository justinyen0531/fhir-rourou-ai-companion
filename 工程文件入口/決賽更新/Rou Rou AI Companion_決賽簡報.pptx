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b444739a914505" /><Relationship Type="http://schemas.openxmlformats.org/officeDocument/2006/relationships/extended-properties" Target="/docProps/app.xml" Id="R39c6cdfe8c42455b" /><Relationship Type="http://schemas.openxmlformats.org/officeDocument/2006/relationships/officeDocument" Target="/ppt/presentation.xml" Id="Rfcaf2df59e8346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0aff084c464eb3"/>
  </p:sldMasterIdLst>
  <p:notesMasterIdLst>
    <p:notesMasterId xmlns:r="http://schemas.openxmlformats.org/officeDocument/2006/relationships" r:id="R1b042244e88f4cee"/>
  </p:notesMasterIdLst>
  <p:sldIdLst>
    <p:sldId xmlns:r="http://schemas.openxmlformats.org/officeDocument/2006/relationships" id="256" r:id="Rd55245fd54654c73"/>
    <p:sldId xmlns:r="http://schemas.openxmlformats.org/officeDocument/2006/relationships" id="257" r:id="R7919881dfcb64e4c"/>
    <p:sldId xmlns:r="http://schemas.openxmlformats.org/officeDocument/2006/relationships" id="258" r:id="R59df5e0a1f8c4cdc"/>
    <p:sldId xmlns:r="http://schemas.openxmlformats.org/officeDocument/2006/relationships" id="259" r:id="R0e2695aee96e4df3"/>
    <p:sldId xmlns:r="http://schemas.openxmlformats.org/officeDocument/2006/relationships" id="260" r:id="R72c06b96742c430f"/>
    <p:sldId xmlns:r="http://schemas.openxmlformats.org/officeDocument/2006/relationships" id="261" r:id="R955be3c854b347c9"/>
    <p:sldId xmlns:r="http://schemas.openxmlformats.org/officeDocument/2006/relationships" id="262" r:id="Rce5dc52b13cb4c92"/>
    <p:sldId xmlns:r="http://schemas.openxmlformats.org/officeDocument/2006/relationships" id="263" r:id="R3c12f626ea3d49a7"/>
    <p:sldId xmlns:r="http://schemas.openxmlformats.org/officeDocument/2006/relationships" id="264" r:id="Rcc680d10697f4d73"/>
    <p:sldId xmlns:r="http://schemas.openxmlformats.org/officeDocument/2006/relationships" id="265" r:id="R0740f00d06754379"/>
    <p:sldId xmlns:r="http://schemas.openxmlformats.org/officeDocument/2006/relationships" id="266" r:id="Rf9e71786d3ac4859"/>
    <p:sldId xmlns:r="http://schemas.openxmlformats.org/officeDocument/2006/relationships" id="267" r:id="Rccb81b7a5b44419d"/>
    <p:sldId xmlns:r="http://schemas.openxmlformats.org/officeDocument/2006/relationships" id="268" r:id="Rd7bc09a769f54219"/>
    <p:sldId xmlns:r="http://schemas.openxmlformats.org/officeDocument/2006/relationships" id="269" r:id="Rb9dc9749cddc4d3d"/>
    <p:sldId xmlns:r="http://schemas.openxmlformats.org/officeDocument/2006/relationships" id="270" r:id="R92aa8acebf704944"/>
    <p:sldId xmlns:r="http://schemas.openxmlformats.org/officeDocument/2006/relationships" id="271" r:id="R12cf6f7f344f43ca"/>
    <p:sldId xmlns:r="http://schemas.openxmlformats.org/officeDocument/2006/relationships" id="272" r:id="Ra3bf3469a23b41ae"/>
    <p:sldId xmlns:r="http://schemas.openxmlformats.org/officeDocument/2006/relationships" id="273" r:id="Rd03b686766674e37"/>
    <p:sldId xmlns:r="http://schemas.openxmlformats.org/officeDocument/2006/relationships" id="274" r:id="Rdaf925f5a9ad4a57"/>
    <p:sldId xmlns:r="http://schemas.openxmlformats.org/officeDocument/2006/relationships" id="275" r:id="Rfab600d42a2a48bd"/>
    <p:sldId xmlns:r="http://schemas.openxmlformats.org/officeDocument/2006/relationships" id="276" r:id="R7bc9e9779cda4d25"/>
    <p:sldId xmlns:r="http://schemas.openxmlformats.org/officeDocument/2006/relationships" id="277" r:id="R128f21a4b9e4416b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0aff084c464eb3" /><Relationship Type="http://schemas.openxmlformats.org/officeDocument/2006/relationships/theme" Target="/ppt/theme/theme1.xml" Id="R3ecba4e2420d4c4e" /><Relationship Type="http://schemas.openxmlformats.org/officeDocument/2006/relationships/notesMaster" Target="/ppt/notesMasters/notesMaster1.xml" Id="R1b042244e88f4cee" /><Relationship Type="http://schemas.openxmlformats.org/officeDocument/2006/relationships/presProps" Target="/ppt/presProps.xml" Id="Rcbce2c6df413476f" /><Relationship Type="http://schemas.openxmlformats.org/officeDocument/2006/relationships/viewProps" Target="/ppt/viewProps.xml" Id="Rf7e88241bbb049ef" /><Relationship Type="http://schemas.openxmlformats.org/officeDocument/2006/relationships/tableStyles" Target="/ppt/tableStyles.xml" Id="R58e4cefa14ed4906" /><Relationship Type="http://schemas.openxmlformats.org/officeDocument/2006/relationships/slide" Target="/ppt/slides/slide1.xml" Id="Rd55245fd54654c73" /><Relationship Type="http://schemas.openxmlformats.org/officeDocument/2006/relationships/slide" Target="/ppt/slides/slide2.xml" Id="R7919881dfcb64e4c" /><Relationship Type="http://schemas.openxmlformats.org/officeDocument/2006/relationships/slide" Target="/ppt/slides/slide3.xml" Id="R59df5e0a1f8c4cdc" /><Relationship Type="http://schemas.openxmlformats.org/officeDocument/2006/relationships/slide" Target="/ppt/slides/slide4.xml" Id="R0e2695aee96e4df3" /><Relationship Type="http://schemas.openxmlformats.org/officeDocument/2006/relationships/slide" Target="/ppt/slides/slide5.xml" Id="R72c06b96742c430f" /><Relationship Type="http://schemas.openxmlformats.org/officeDocument/2006/relationships/slide" Target="/ppt/slides/slide6.xml" Id="R955be3c854b347c9" /><Relationship Type="http://schemas.openxmlformats.org/officeDocument/2006/relationships/slide" Target="/ppt/slides/slide7.xml" Id="Rce5dc52b13cb4c92" /><Relationship Type="http://schemas.openxmlformats.org/officeDocument/2006/relationships/slide" Target="/ppt/slides/slide8.xml" Id="R3c12f626ea3d49a7" /><Relationship Type="http://schemas.openxmlformats.org/officeDocument/2006/relationships/slide" Target="/ppt/slides/slide9.xml" Id="Rcc680d10697f4d73" /><Relationship Type="http://schemas.openxmlformats.org/officeDocument/2006/relationships/slide" Target="/ppt/slides/slide10.xml" Id="R0740f00d06754379" /><Relationship Type="http://schemas.openxmlformats.org/officeDocument/2006/relationships/slide" Target="/ppt/slides/slide11.xml" Id="Rf9e71786d3ac4859" /><Relationship Type="http://schemas.openxmlformats.org/officeDocument/2006/relationships/slide" Target="/ppt/slides/slide12.xml" Id="Rccb81b7a5b44419d" /><Relationship Type="http://schemas.openxmlformats.org/officeDocument/2006/relationships/slide" Target="/ppt/slides/slide13.xml" Id="Rd7bc09a769f54219" /><Relationship Type="http://schemas.openxmlformats.org/officeDocument/2006/relationships/slide" Target="/ppt/slides/slide14.xml" Id="Rb9dc9749cddc4d3d" /><Relationship Type="http://schemas.openxmlformats.org/officeDocument/2006/relationships/slide" Target="/ppt/slides/slide15.xml" Id="R92aa8acebf704944" /><Relationship Type="http://schemas.openxmlformats.org/officeDocument/2006/relationships/slide" Target="/ppt/slides/slide16.xml" Id="R12cf6f7f344f43ca" /><Relationship Type="http://schemas.openxmlformats.org/officeDocument/2006/relationships/slide" Target="/ppt/slides/slide17.xml" Id="Ra3bf3469a23b41ae" /><Relationship Type="http://schemas.openxmlformats.org/officeDocument/2006/relationships/slide" Target="/ppt/slides/slide18.xml" Id="Rd03b686766674e37" /><Relationship Type="http://schemas.openxmlformats.org/officeDocument/2006/relationships/slide" Target="/ppt/slides/slide19.xml" Id="Rdaf925f5a9ad4a57" /><Relationship Type="http://schemas.openxmlformats.org/officeDocument/2006/relationships/slide" Target="/ppt/slides/slide20.xml" Id="Rfab600d42a2a48bd" /><Relationship Type="http://schemas.openxmlformats.org/officeDocument/2006/relationships/slide" Target="/ppt/slides/slide21.xml" Id="R7bc9e9779cda4d25" /><Relationship Type="http://schemas.openxmlformats.org/officeDocument/2006/relationships/slide" Target="/ppt/slides/slide22.xml" Id="R128f21a4b9e441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7d7c79e392f44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f69dcf848843e4" /><Relationship Type="http://schemas.openxmlformats.org/officeDocument/2006/relationships/notesMaster" Target="/ppt/notesMasters/notesMaster1.xml" Id="R388856db5d7042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ea58017fb447cc" /><Relationship Type="http://schemas.openxmlformats.org/officeDocument/2006/relationships/notesMaster" Target="/ppt/notesMasters/notesMaster1.xml" Id="Rfca32813132344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125fc984474031" /><Relationship Type="http://schemas.openxmlformats.org/officeDocument/2006/relationships/notesMaster" Target="/ppt/notesMasters/notesMaster1.xml" Id="R398275b8e77a46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91e430529a48c7" /><Relationship Type="http://schemas.openxmlformats.org/officeDocument/2006/relationships/notesMaster" Target="/ppt/notesMasters/notesMaster1.xml" Id="Rce8bd6469e7f46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c37e5471b04b4e" /><Relationship Type="http://schemas.openxmlformats.org/officeDocument/2006/relationships/notesMaster" Target="/ppt/notesMasters/notesMaster1.xml" Id="Rf1c67f359a0c4d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9c819ea2884da0" /><Relationship Type="http://schemas.openxmlformats.org/officeDocument/2006/relationships/notesMaster" Target="/ppt/notesMasters/notesMaster1.xml" Id="R92ca61d70fdf45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195e0e27064a01" /><Relationship Type="http://schemas.openxmlformats.org/officeDocument/2006/relationships/notesMaster" Target="/ppt/notesMasters/notesMaster1.xml" Id="R98d58ca69b064f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73fa0c653141f0" /><Relationship Type="http://schemas.openxmlformats.org/officeDocument/2006/relationships/notesMaster" Target="/ppt/notesMasters/notesMaster1.xml" Id="R2a450448962f42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58cccce7a845f5" /><Relationship Type="http://schemas.openxmlformats.org/officeDocument/2006/relationships/notesMaster" Target="/ppt/notesMasters/notesMaster1.xml" Id="R3b99dcc5be934b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89692303384982" /><Relationship Type="http://schemas.openxmlformats.org/officeDocument/2006/relationships/notesMaster" Target="/ppt/notesMasters/notesMaster1.xml" Id="Rad4167cf984443e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439cba5cdb743f7" /><Relationship Type="http://schemas.openxmlformats.org/officeDocument/2006/relationships/notesMaster" Target="/ppt/notesMasters/notesMaster1.xml" Id="R4f4c2d58db494c3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d787f83a3174a02" /><Relationship Type="http://schemas.openxmlformats.org/officeDocument/2006/relationships/notesMaster" Target="/ppt/notesMasters/notesMaster1.xml" Id="R9be10d84098046d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e35f7cb4e9f43b9" /><Relationship Type="http://schemas.openxmlformats.org/officeDocument/2006/relationships/notesMaster" Target="/ppt/notesMasters/notesMaster1.xml" Id="R68399ce3f5e8407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752d80667f643c8" /><Relationship Type="http://schemas.openxmlformats.org/officeDocument/2006/relationships/notesMaster" Target="/ppt/notesMasters/notesMaster1.xml" Id="R00d683cd6de74fe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290b7f1caf349f4" /><Relationship Type="http://schemas.openxmlformats.org/officeDocument/2006/relationships/notesMaster" Target="/ppt/notesMasters/notesMaster1.xml" Id="Rb40797c9551c491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1c079589cc94e49" /><Relationship Type="http://schemas.openxmlformats.org/officeDocument/2006/relationships/notesMaster" Target="/ppt/notesMasters/notesMaster1.xml" Id="R85d2fa5d394842e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4e417b52d564f8d" /><Relationship Type="http://schemas.openxmlformats.org/officeDocument/2006/relationships/notesMaster" Target="/ppt/notesMasters/notesMaster1.xml" Id="Ra7b107d059354cf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719c62ddc084dd2" /><Relationship Type="http://schemas.openxmlformats.org/officeDocument/2006/relationships/notesMaster" Target="/ppt/notesMasters/notesMaster1.xml" Id="Rd4d3a51bd740462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e85f8f54ec7460b" /><Relationship Type="http://schemas.openxmlformats.org/officeDocument/2006/relationships/notesMaster" Target="/ppt/notesMasters/notesMaster1.xml" Id="R9c5aa3593aa3455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6e02940136c4ab1" /><Relationship Type="http://schemas.openxmlformats.org/officeDocument/2006/relationships/notesMaster" Target="/ppt/notesMasters/notesMaster1.xml" Id="R9bcec4828b54401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d66bffbe53b423e" /><Relationship Type="http://schemas.openxmlformats.org/officeDocument/2006/relationships/notesMaster" Target="/ppt/notesMasters/notesMaster1.xml" Id="R8a1971415f65478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669cb7f274c4cb9" /><Relationship Type="http://schemas.openxmlformats.org/officeDocument/2006/relationships/notesMaster" Target="/ppt/notesMasters/notesMaster1.xml" Id="R831380ae9e1f40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826713885d4a2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f550230c1dd455f" /><Relationship Type="http://schemas.openxmlformats.org/officeDocument/2006/relationships/slideLayout" Target="/ppt/slideLayouts/slideLayout2.xml" Id="R432512340bcf4d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2512340bcf4d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9a99e635f54e3a" /><Relationship Type="http://schemas.openxmlformats.org/officeDocument/2006/relationships/notesSlide" Target="/ppt/notesSlides/notesSlide1.xml" Id="R90753790a9c045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97d2d47a504ee3" /><Relationship Type="http://schemas.openxmlformats.org/officeDocument/2006/relationships/notesSlide" Target="/ppt/notesSlides/notesSlide2.xml" Id="Ra6d8a54e356e4b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38bb4d0253418f" /><Relationship Type="http://schemas.openxmlformats.org/officeDocument/2006/relationships/notesSlide" Target="/ppt/notesSlides/notesSlide3.xml" Id="R36a8ee8e707345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f3fd19caae4461" /><Relationship Type="http://schemas.openxmlformats.org/officeDocument/2006/relationships/notesSlide" Target="/ppt/notesSlides/notesSlide4.xml" Id="R31e864ea354840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a463b9e1c949d6" /><Relationship Type="http://schemas.openxmlformats.org/officeDocument/2006/relationships/notesSlide" Target="/ppt/notesSlides/notesSlide5.xml" Id="Rcab1fe01eb2642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8611ebe8a9436d" /><Relationship Type="http://schemas.openxmlformats.org/officeDocument/2006/relationships/notesSlide" Target="/ppt/notesSlides/notesSlide6.xml" Id="Rc5fdf0739d4442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131b8d781e47b3" /><Relationship Type="http://schemas.openxmlformats.org/officeDocument/2006/relationships/notesSlide" Target="/ppt/notesSlides/notesSlide7.xml" Id="R295f9bd3148541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994ea2ca144aa9" /><Relationship Type="http://schemas.openxmlformats.org/officeDocument/2006/relationships/notesSlide" Target="/ppt/notesSlides/notesSlide8.xml" Id="Rfa06b02849af45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637dee06df46d3" /><Relationship Type="http://schemas.openxmlformats.org/officeDocument/2006/relationships/notesSlide" Target="/ppt/notesSlides/notesSlide9.xml" Id="Rd292b7a987e545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43da19086f4634" /><Relationship Type="http://schemas.openxmlformats.org/officeDocument/2006/relationships/notesSlide" Target="/ppt/notesSlides/notesSlide10.xml" Id="R4649ccb6c1694b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d34259b1b5407f" /><Relationship Type="http://schemas.openxmlformats.org/officeDocument/2006/relationships/notesSlide" Target="/ppt/notesSlides/notesSlide11.xml" Id="R932dcfe3791e47e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cf45d2a798456d" /><Relationship Type="http://schemas.openxmlformats.org/officeDocument/2006/relationships/notesSlide" Target="/ppt/notesSlides/notesSlide12.xml" Id="Rabb6e8f3d22b45c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4b0239b28b40ea" /><Relationship Type="http://schemas.openxmlformats.org/officeDocument/2006/relationships/notesSlide" Target="/ppt/notesSlides/notesSlide13.xml" Id="R4cf18733cedc43e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02f94cc3964504" /><Relationship Type="http://schemas.openxmlformats.org/officeDocument/2006/relationships/notesSlide" Target="/ppt/notesSlides/notesSlide14.xml" Id="R56ee3ffd526d4e2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85f2e51b8e48bd" /><Relationship Type="http://schemas.openxmlformats.org/officeDocument/2006/relationships/notesSlide" Target="/ppt/notesSlides/notesSlide15.xml" Id="R1d222792f0a7427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12d59e85fb47a9" /><Relationship Type="http://schemas.openxmlformats.org/officeDocument/2006/relationships/notesSlide" Target="/ppt/notesSlides/notesSlide16.xml" Id="Rd633a5cf679344e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3f80eab3294a76" /><Relationship Type="http://schemas.openxmlformats.org/officeDocument/2006/relationships/notesSlide" Target="/ppt/notesSlides/notesSlide17.xml" Id="R9f035355c8a14ef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fd55c596684e47" /><Relationship Type="http://schemas.openxmlformats.org/officeDocument/2006/relationships/notesSlide" Target="/ppt/notesSlides/notesSlide18.xml" Id="R6973e3eeb77346f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9fa5d7b68e413d" /><Relationship Type="http://schemas.openxmlformats.org/officeDocument/2006/relationships/notesSlide" Target="/ppt/notesSlides/notesSlide19.xml" Id="Rb240fa7df543407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9045aacf4447e9" /><Relationship Type="http://schemas.openxmlformats.org/officeDocument/2006/relationships/notesSlide" Target="/ppt/notesSlides/notesSlide20.xml" Id="Rbb7d2285265b4e2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63f14c41744554" /><Relationship Type="http://schemas.openxmlformats.org/officeDocument/2006/relationships/notesSlide" Target="/ppt/notesSlides/notesSlide21.xml" Id="R16f73b4099a3458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1210a98e3a4f17" /><Relationship Type="http://schemas.openxmlformats.org/officeDocument/2006/relationships/notesSlide" Target="/ppt/notesSlides/notesSlide22.xml" Id="R7d4d17588db34f9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9C540C-D1CA-49CC-9ED5-47C7441F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5106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Rou Rou AI Companion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01343CD-AE9C-44AE-831F-ED43BCD3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51625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7EFE1"/>
                </a:solidFill>
              </a:defRPr>
            </a:pPr>
            <a:r>
              <a:rPr sz="1650">
                <a:solidFill>
                  <a:srgbClr val="D7EFE1"/>
                </a:solidFill>
              </a:rPr>
              <a:t>以對話式 AI 與 FHIR 補足病人到醫師之間的診前資訊斷層</a:t>
            </a:r>
          </a:p>
        </p:txBody>
      </p:sp>
      <p:sp>
        <p:nvSpPr>
          <p:cNvPr id="3" name="page-chip">
            <a:extLst xmlns:a="http://schemas.openxmlformats.org/drawingml/2006/main">
              <a:ext uri="{FF2B5EF4-FFF2-40B4-BE49-F238E27FC236}">
                <a16:creationId xmlns:a16="http://schemas.microsoft.com/office/drawing/2014/main" id="{6BD34AB9-F806-4321-9877-354F470B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571500"/>
            <a:ext cx="14287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D46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CA4CB-D158-449B-BEE5-53A9F1A4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8700" y="666750"/>
            <a:ext cx="1085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第 1 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EA7D23-4799-4B72-A55B-235EE8F1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62475"/>
            <a:ext cx="9829800" cy="830580"/>
          </a:xfrm>
          <a:prstGeom xmlns:a="http://schemas.openxmlformats.org/drawingml/2006/main" prst="roundRect">
            <a:avLst>
              <a:gd name="adj" fmla="val 18349"/>
            </a:avLst>
          </a:prstGeom>
          <a:solidFill xmlns:a="http://schemas.openxmlformats.org/drawingml/2006/main">
            <a:srgbClr val="19523D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8F244-ED5D-45BA-B88B-A8598562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38700"/>
            <a:ext cx="9296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9DE0AD"/>
                </a:solidFill>
              </a:defRPr>
            </a:pPr>
            <a:r>
              <a:rPr sz="1950" b="1">
                <a:solidFill>
                  <a:srgbClr val="9DE0AD"/>
                </a:solidFill>
              </a:rPr>
              <a:t>FHIR x AI x Mental Health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870D9-71F5-49BD-9E53-0C29275C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98298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FFFFFF"/>
                </a:solidFill>
              </a:defRPr>
            </a:pPr>
            <a:r>
              <a:rPr sz="6300" b="1">
                <a:solidFill>
                  <a:srgbClr val="FFFFFF"/>
                </a:solidFill>
              </a:rPr>
              <a:t>決賽簡報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9628B-7076-4418-B3D6-43BFE72A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9900"/>
            <a:ext cx="9829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D7EFE1"/>
                </a:solidFill>
              </a:defRPr>
            </a:pPr>
            <a:r>
              <a:rPr sz="2550">
                <a:solidFill>
                  <a:srgbClr val="D7EFE1"/>
                </a:solidFill>
              </a:rPr>
              <a:t>Rou Rou AI Companion</a:t>
            </a:r>
          </a:p>
        </p:txBody>
      </p:sp>
      <p:sp>
        <p:nvSpPr>
          <p:cNvPr id="9" name="placeholder-產品視覺主圖區">
            <a:extLst xmlns:a="http://schemas.openxmlformats.org/drawingml/2006/main">
              <a:ext uri="{FF2B5EF4-FFF2-40B4-BE49-F238E27FC236}">
                <a16:creationId xmlns:a16="http://schemas.microsoft.com/office/drawing/2014/main" id="{201CFC75-117E-4589-96D4-D2EF59A7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045970"/>
            <a:ext cx="6553200" cy="7669530"/>
          </a:xfrm>
          <a:prstGeom xmlns:a="http://schemas.openxmlformats.org/drawingml/2006/main" prst="roundRect">
            <a:avLst>
              <a:gd name="adj" fmla="val 1744"/>
            </a:avLst>
          </a:prstGeom>
          <a:solidFill xmlns:a="http://schemas.openxmlformats.org/drawingml/2006/main">
            <a:srgbClr val="174D39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A6FE1A-F61D-4066-9F2E-AD4666BA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562600"/>
            <a:ext cx="609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產品視覺主圖區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B0B04-6D83-4B81-BC49-BA61E094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000750"/>
            <a:ext cx="609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FE1"/>
                </a:solidFill>
              </a:defRPr>
            </a:pPr>
            <a:r>
              <a:rPr sz="1350">
                <a:solidFill>
                  <a:srgbClr val="D7EFE1"/>
                </a:solidFill>
              </a:rPr>
              <a:t>這裡建議放聊天首頁、報表或品牌主視覺</a:t>
            </a:r>
          </a:p>
        </p:txBody>
      </p:sp>
    </p:spTree>
    <p:extLst>
      <p:ext uri="{BB962C8B-B14F-4D97-AF65-F5344CB8AC3E}">
        <p14:creationId xmlns:p14="http://schemas.microsoft.com/office/powerpoint/2010/main" val="6885797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A9FDB4-76D7-4F1B-A83A-2CD962D9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5106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AI 特別適合承接心理健康中的前段互動與整理工作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F210A2A0-467E-482B-B535-6641E3AF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E0AD"/>
          </a:solidFill>
          <a:ln xmlns:a="http://schemas.openxmlformats.org/drawingml/2006/main" w="0">
            <a:solidFill>
              <a:srgbClr val="9DE0AD"/>
            </a:solidFill>
            <a:prstDash val="solid"/>
          </a:ln>
        </p:spPr>
      </p:sp>
      <p:sp>
        <p:nvSpPr>
          <p:cNvPr id="3" name="page-chip">
            <a:extLst xmlns:a="http://schemas.openxmlformats.org/drawingml/2006/main">
              <a:ext uri="{FF2B5EF4-FFF2-40B4-BE49-F238E27FC236}">
                <a16:creationId xmlns:a16="http://schemas.microsoft.com/office/drawing/2014/main" id="{988F89FD-E4E3-456B-B735-24929C93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571500"/>
            <a:ext cx="14287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D46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B4399-F3E1-49F6-849C-00793557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8700" y="666750"/>
            <a:ext cx="1085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第 2 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80F92-7BA5-4E0F-9616-78317F1D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9442133" cy="8134350"/>
          </a:xfrm>
          <a:prstGeom xmlns:a="http://schemas.openxmlformats.org/drawingml/2006/main" prst="roundRect">
            <a:avLst>
              <a:gd name="adj" fmla="val 1874"/>
            </a:avLst>
          </a:prstGeom>
          <a:solidFill xmlns:a="http://schemas.openxmlformats.org/drawingml/2006/main">
            <a:srgbClr val="174A37"/>
          </a:solidFill>
        </p:spPr>
      </p:sp>
      <p:sp>
        <p:nvSpPr>
          <p:cNvPr id="6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B1CFA0F4-A939-4EFA-9BF6-07845039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66900"/>
            <a:ext cx="228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DE0AD"/>
                </a:solidFill>
              </a:defRPr>
            </a:pPr>
            <a:r>
              <a:rPr sz="2100" b="1">
                <a:solidFill>
                  <a:srgbClr val="9DE0AD"/>
                </a:solidFill>
              </a:rPr>
              <a:t>•</a:t>
            </a:r>
          </a:p>
        </p:txBody>
      </p:sp>
      <p:sp>
        <p:nvSpPr>
          <p:cNvPr id="7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91BEDD89-6D9E-418F-9E0A-550DBC81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66900"/>
            <a:ext cx="8515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7EFE1"/>
                </a:solidFill>
              </a:defRPr>
            </a:pPr>
            <a:r>
              <a:rPr sz="1800">
                <a:solidFill>
                  <a:srgbClr val="D7EFE1"/>
                </a:solidFill>
              </a:rPr>
              <a:t>能長時間、低壓力地陪伴使用者互動</a:t>
            </a:r>
          </a:p>
        </p:txBody>
      </p:sp>
      <p:sp>
        <p:nvSpPr>
          <p:cNvPr id="8" name="placeholder-輔助視覺區">
            <a:extLst xmlns:a="http://schemas.openxmlformats.org/drawingml/2006/main">
              <a:ext uri="{FF2B5EF4-FFF2-40B4-BE49-F238E27FC236}">
                <a16:creationId xmlns:a16="http://schemas.microsoft.com/office/drawing/2014/main" id="{D8245CF6-5B69-4852-A2F0-DBF4A85B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7033" y="1581150"/>
            <a:ext cx="6978967" cy="7932420"/>
          </a:xfrm>
          <a:prstGeom xmlns:a="http://schemas.openxmlformats.org/drawingml/2006/main" prst="roundRect">
            <a:avLst>
              <a:gd name="adj" fmla="val 1638"/>
            </a:avLst>
          </a:prstGeom>
          <a:solidFill xmlns:a="http://schemas.openxmlformats.org/drawingml/2006/main">
            <a:srgbClr val="174D39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635CD-B6C3-4F0E-BB98-F66EBF18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219700"/>
            <a:ext cx="6515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輔助視覺區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78314D-D7A6-4772-AFA9-4E8A40C1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657850"/>
            <a:ext cx="6515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FE1"/>
                </a:solidFill>
              </a:defRPr>
            </a:pPr>
            <a:r>
              <a:rPr sz="1350">
                <a:solidFill>
                  <a:srgbClr val="D7EFE1"/>
                </a:solidFill>
              </a:rPr>
              <a:t>此頁建議放與內容最相關的產品畫面、研究圖或概念示意。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ADBCC8-A4F6-4345-87A4-19AEF95A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9696450"/>
            <a:ext cx="697230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7056016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C9FE91-4C7A-4BA8-95E1-BEB50261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5106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真正困難的不是量化症狀，而是理解症狀背後的原因與脈絡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4C3057B3-247C-427D-B3DF-B38FD6E2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E0AD"/>
          </a:solidFill>
          <a:ln xmlns:a="http://schemas.openxmlformats.org/drawingml/2006/main" w="0">
            <a:solidFill>
              <a:srgbClr val="9DE0AD"/>
            </a:solidFill>
            <a:prstDash val="solid"/>
          </a:ln>
        </p:spPr>
      </p:sp>
      <p:sp>
        <p:nvSpPr>
          <p:cNvPr id="3" name="page-chip">
            <a:extLst xmlns:a="http://schemas.openxmlformats.org/drawingml/2006/main">
              <a:ext uri="{FF2B5EF4-FFF2-40B4-BE49-F238E27FC236}">
                <a16:creationId xmlns:a16="http://schemas.microsoft.com/office/drawing/2014/main" id="{CA4389FF-F474-4003-8538-52409EE1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571500"/>
            <a:ext cx="14287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D46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3F506-EA10-4A6F-BA06-F1DFA4D9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8700" y="666750"/>
            <a:ext cx="1085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第 3 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F254C-3E66-499A-B298-81C4AA9D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9442133" cy="8134350"/>
          </a:xfrm>
          <a:prstGeom xmlns:a="http://schemas.openxmlformats.org/drawingml/2006/main" prst="roundRect">
            <a:avLst>
              <a:gd name="adj" fmla="val 1874"/>
            </a:avLst>
          </a:prstGeom>
          <a:solidFill xmlns:a="http://schemas.openxmlformats.org/drawingml/2006/main">
            <a:srgbClr val="174A37"/>
          </a:solidFill>
        </p:spPr>
      </p:sp>
      <p:sp>
        <p:nvSpPr>
          <p:cNvPr id="6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BD83B23E-00FD-4EF2-9AF2-9D2FC12E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66900"/>
            <a:ext cx="228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DE0AD"/>
                </a:solidFill>
              </a:defRPr>
            </a:pPr>
            <a:r>
              <a:rPr sz="2100" b="1">
                <a:solidFill>
                  <a:srgbClr val="9DE0AD"/>
                </a:solidFill>
              </a:rPr>
              <a:t>•</a:t>
            </a:r>
          </a:p>
        </p:txBody>
      </p:sp>
      <p:sp>
        <p:nvSpPr>
          <p:cNvPr id="7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247C8A4E-0437-4147-B06B-DC21D903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66900"/>
            <a:ext cx="8515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7EFE1"/>
                </a:solidFill>
              </a:defRPr>
            </a:pPr>
            <a:r>
              <a:rPr sz="1800">
                <a:solidFill>
                  <a:srgbClr val="D7EFE1"/>
                </a:solidFill>
              </a:rPr>
              <a:t>症狀可量化，但背景與原因需要時間理解</a:t>
            </a:r>
          </a:p>
        </p:txBody>
      </p:sp>
      <p:sp>
        <p:nvSpPr>
          <p:cNvPr id="8" name="placeholder-輔助視覺區">
            <a:extLst xmlns:a="http://schemas.openxmlformats.org/drawingml/2006/main">
              <a:ext uri="{FF2B5EF4-FFF2-40B4-BE49-F238E27FC236}">
                <a16:creationId xmlns:a16="http://schemas.microsoft.com/office/drawing/2014/main" id="{954A73D7-34B3-4044-A9A1-AD03E185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7033" y="1581150"/>
            <a:ext cx="6978967" cy="7932420"/>
          </a:xfrm>
          <a:prstGeom xmlns:a="http://schemas.openxmlformats.org/drawingml/2006/main" prst="roundRect">
            <a:avLst>
              <a:gd name="adj" fmla="val 1638"/>
            </a:avLst>
          </a:prstGeom>
          <a:solidFill xmlns:a="http://schemas.openxmlformats.org/drawingml/2006/main">
            <a:srgbClr val="174D39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EEA626-D0C9-4808-BAE6-431EA546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219700"/>
            <a:ext cx="6515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輔助視覺區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539BBF-05A2-44CE-838F-8A96B2E0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657850"/>
            <a:ext cx="6515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FE1"/>
                </a:solidFill>
              </a:defRPr>
            </a:pPr>
            <a:r>
              <a:rPr sz="1350">
                <a:solidFill>
                  <a:srgbClr val="D7EFE1"/>
                </a:solidFill>
              </a:rPr>
              <a:t>此頁建議放與內容最相關的產品畫面、研究圖或概念示意。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845626-D3A8-4A92-877A-6B522657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9696450"/>
            <a:ext cx="697230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024280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F45C98-2C63-44F3-A4A5-4E76FCF2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5106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AI 串起諮商心理、臨床心理與 FHIR 工程，成為病人到醫師之間的橋樑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9AFDCF27-8EAD-4919-8E27-81B5A782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E0AD"/>
          </a:solidFill>
          <a:ln xmlns:a="http://schemas.openxmlformats.org/drawingml/2006/main" w="0">
            <a:solidFill>
              <a:srgbClr val="9DE0AD"/>
            </a:solidFill>
            <a:prstDash val="solid"/>
          </a:ln>
        </p:spPr>
      </p:sp>
      <p:sp>
        <p:nvSpPr>
          <p:cNvPr id="3" name="page-chip">
            <a:extLst xmlns:a="http://schemas.openxmlformats.org/drawingml/2006/main">
              <a:ext uri="{FF2B5EF4-FFF2-40B4-BE49-F238E27FC236}">
                <a16:creationId xmlns:a16="http://schemas.microsoft.com/office/drawing/2014/main" id="{25685C26-AFB5-4484-B63D-D8D6F000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571500"/>
            <a:ext cx="14287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D46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A669B-FA0F-48C9-9F33-6945F623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8700" y="666750"/>
            <a:ext cx="1085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第 4 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6DFE9-E149-4FBA-8B7E-74A3EB7B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9442133" cy="8134350"/>
          </a:xfrm>
          <a:prstGeom xmlns:a="http://schemas.openxmlformats.org/drawingml/2006/main" prst="roundRect">
            <a:avLst>
              <a:gd name="adj" fmla="val 1874"/>
            </a:avLst>
          </a:prstGeom>
          <a:solidFill xmlns:a="http://schemas.openxmlformats.org/drawingml/2006/main">
            <a:srgbClr val="174A37"/>
          </a:solidFill>
        </p:spPr>
      </p:sp>
      <p:sp>
        <p:nvSpPr>
          <p:cNvPr id="6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AFE28436-206F-4049-9C85-D571C204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66900"/>
            <a:ext cx="228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DE0AD"/>
                </a:solidFill>
              </a:defRPr>
            </a:pPr>
            <a:r>
              <a:rPr sz="2100" b="1">
                <a:solidFill>
                  <a:srgbClr val="9DE0AD"/>
                </a:solidFill>
              </a:rPr>
              <a:t>•</a:t>
            </a:r>
          </a:p>
        </p:txBody>
      </p:sp>
      <p:sp>
        <p:nvSpPr>
          <p:cNvPr id="7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527CB9D9-905D-4D8D-9469-2E806211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66900"/>
            <a:ext cx="8515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7EFE1"/>
                </a:solidFill>
              </a:defRPr>
            </a:pPr>
            <a:r>
              <a:rPr sz="1800">
                <a:solidFill>
                  <a:srgbClr val="D7EFE1"/>
                </a:solidFill>
              </a:rPr>
              <a:t>靈感來自 `ChatGPT-4o` 的語意理解與陪伴能力</a:t>
            </a:r>
          </a:p>
        </p:txBody>
      </p:sp>
      <p:sp>
        <p:nvSpPr>
          <p:cNvPr id="8" name="placeholder-輔助視覺區">
            <a:extLst xmlns:a="http://schemas.openxmlformats.org/drawingml/2006/main">
              <a:ext uri="{FF2B5EF4-FFF2-40B4-BE49-F238E27FC236}">
                <a16:creationId xmlns:a16="http://schemas.microsoft.com/office/drawing/2014/main" id="{F38B805C-08D4-4834-A8AD-49369045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7033" y="1581150"/>
            <a:ext cx="6978967" cy="7932420"/>
          </a:xfrm>
          <a:prstGeom xmlns:a="http://schemas.openxmlformats.org/drawingml/2006/main" prst="roundRect">
            <a:avLst>
              <a:gd name="adj" fmla="val 1638"/>
            </a:avLst>
          </a:prstGeom>
          <a:solidFill xmlns:a="http://schemas.openxmlformats.org/drawingml/2006/main">
            <a:srgbClr val="174D39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7FC006-D4B3-41BA-81CC-A8E67CE1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219700"/>
            <a:ext cx="6515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輔助視覺區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DF9EBC-EBDC-4D77-A7C1-1AD0252C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657850"/>
            <a:ext cx="6515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FE1"/>
                </a:solidFill>
              </a:defRPr>
            </a:pPr>
            <a:r>
              <a:rPr sz="1350">
                <a:solidFill>
                  <a:srgbClr val="D7EFE1"/>
                </a:solidFill>
              </a:rPr>
              <a:t>此頁建議放與內容最相關的產品畫面、研究圖或概念示意。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49B34E-5903-4A9A-9FB2-7BAD70DE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9696450"/>
            <a:ext cx="697230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7829712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82E75A-26F8-4CFA-88CD-2DA81020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5106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三方角色在系統上的交通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BBAC4F10-1D0E-4233-89C4-D779B364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E0AD"/>
          </a:solidFill>
          <a:ln xmlns:a="http://schemas.openxmlformats.org/drawingml/2006/main" w="0">
            <a:solidFill>
              <a:srgbClr val="9DE0AD"/>
            </a:solidFill>
            <a:prstDash val="solid"/>
          </a:ln>
        </p:spPr>
      </p:sp>
      <p:sp>
        <p:nvSpPr>
          <p:cNvPr id="3" name="page-chip">
            <a:extLst xmlns:a="http://schemas.openxmlformats.org/drawingml/2006/main">
              <a:ext uri="{FF2B5EF4-FFF2-40B4-BE49-F238E27FC236}">
                <a16:creationId xmlns:a16="http://schemas.microsoft.com/office/drawing/2014/main" id="{71CF33A8-0B9D-4D17-8DC4-68EA6DDA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571500"/>
            <a:ext cx="14287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D46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7A476-78D6-48B1-96FD-FBE272CF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8700" y="666750"/>
            <a:ext cx="1085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第 5 頁</a:t>
            </a:r>
          </a:p>
        </p:txBody>
      </p:sp>
      <p:sp>
        <p:nvSpPr>
          <p:cNvPr id="5" name="placeholder-三方角色 Mermaid 圖">
            <a:extLst xmlns:a="http://schemas.openxmlformats.org/drawingml/2006/main">
              <a:ext uri="{FF2B5EF4-FFF2-40B4-BE49-F238E27FC236}">
                <a16:creationId xmlns:a16="http://schemas.microsoft.com/office/drawing/2014/main" id="{900252D7-D3DD-422D-9719-C0558D1A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6764000" cy="8134350"/>
          </a:xfrm>
          <a:prstGeom xmlns:a="http://schemas.openxmlformats.org/drawingml/2006/main" prst="roundRect">
            <a:avLst>
              <a:gd name="adj" fmla="val 1405"/>
            </a:avLst>
          </a:prstGeom>
          <a:solidFill xmlns:a="http://schemas.openxmlformats.org/drawingml/2006/main">
            <a:srgbClr val="174D39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4E1C50-6C37-463C-8971-B7AC08E1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6306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三方角色 Mermaid 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F0DC1-B4F9-4BE0-8E93-61CAE492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72150"/>
            <a:ext cx="1630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FE1"/>
                </a:solidFill>
              </a:defRPr>
            </a:pPr>
            <a:r>
              <a:rPr sz="1350">
                <a:solidFill>
                  <a:srgbClr val="D7EFE1"/>
                </a:solidFill>
              </a:rPr>
              <a:t>病人、AI、醫師的交通圖建議整張置中放大。</a:t>
            </a:r>
          </a:p>
        </p:txBody>
      </p:sp>
    </p:spTree>
    <p:extLst>
      <p:ext uri="{BB962C8B-B14F-4D97-AF65-F5344CB8AC3E}">
        <p14:creationId xmlns:p14="http://schemas.microsoft.com/office/powerpoint/2010/main" val="138382622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AB67FD-6FDA-47E9-9B6F-7A356CEB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5106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從病人對話到醫師可用資訊的主流程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CE8882CC-08EE-45AD-9A98-20C03734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E0AD"/>
          </a:solidFill>
          <a:ln xmlns:a="http://schemas.openxmlformats.org/drawingml/2006/main" w="0">
            <a:solidFill>
              <a:srgbClr val="9DE0AD"/>
            </a:solidFill>
            <a:prstDash val="solid"/>
          </a:ln>
        </p:spPr>
      </p:sp>
      <p:sp>
        <p:nvSpPr>
          <p:cNvPr id="3" name="page-chip">
            <a:extLst xmlns:a="http://schemas.openxmlformats.org/drawingml/2006/main">
              <a:ext uri="{FF2B5EF4-FFF2-40B4-BE49-F238E27FC236}">
                <a16:creationId xmlns:a16="http://schemas.microsoft.com/office/drawing/2014/main" id="{103136A6-528D-490D-91EC-05B4C1E2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571500"/>
            <a:ext cx="14287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D46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6B035-68FC-4185-A2D9-DD1F4FF1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8700" y="666750"/>
            <a:ext cx="1085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第 6 頁</a:t>
            </a:r>
          </a:p>
        </p:txBody>
      </p:sp>
      <p:sp>
        <p:nvSpPr>
          <p:cNvPr id="5" name="placeholder-病人端主流程圖">
            <a:extLst xmlns:a="http://schemas.openxmlformats.org/drawingml/2006/main">
              <a:ext uri="{FF2B5EF4-FFF2-40B4-BE49-F238E27FC236}">
                <a16:creationId xmlns:a16="http://schemas.microsoft.com/office/drawing/2014/main" id="{EF74FBEF-5617-4378-B74F-88EFB752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6764000" cy="8134350"/>
          </a:xfrm>
          <a:prstGeom xmlns:a="http://schemas.openxmlformats.org/drawingml/2006/main" prst="roundRect">
            <a:avLst>
              <a:gd name="adj" fmla="val 1405"/>
            </a:avLst>
          </a:prstGeom>
          <a:solidFill xmlns:a="http://schemas.openxmlformats.org/drawingml/2006/main">
            <a:srgbClr val="174D39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BB131-87BB-47BA-B2A3-D12DD2E3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6306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病人端主流程圖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44D53-858C-4DC1-9990-7C0C9DB0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72150"/>
            <a:ext cx="1630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FE1"/>
                </a:solidFill>
              </a:defRPr>
            </a:pPr>
            <a:r>
              <a:rPr sz="1350">
                <a:solidFill>
                  <a:srgbClr val="D7EFE1"/>
                </a:solidFill>
              </a:rPr>
              <a:t>建議放病人端主流程 Mermaid，右下角可加一句『對話到交付』。</a:t>
            </a:r>
          </a:p>
        </p:txBody>
      </p:sp>
    </p:spTree>
    <p:extLst>
      <p:ext uri="{BB962C8B-B14F-4D97-AF65-F5344CB8AC3E}">
        <p14:creationId xmlns:p14="http://schemas.microsoft.com/office/powerpoint/2010/main" val="3549122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A42AE1-5063-423D-ADFD-37F5AF58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5106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醫師端查看與使用流程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80FFEFA2-8A2A-4F4A-BEB7-5FEC8963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E0AD"/>
          </a:solidFill>
          <a:ln xmlns:a="http://schemas.openxmlformats.org/drawingml/2006/main" w="0">
            <a:solidFill>
              <a:srgbClr val="9DE0AD"/>
            </a:solidFill>
            <a:prstDash val="solid"/>
          </a:ln>
        </p:spPr>
      </p:sp>
      <p:sp>
        <p:nvSpPr>
          <p:cNvPr id="3" name="page-chip">
            <a:extLst xmlns:a="http://schemas.openxmlformats.org/drawingml/2006/main">
              <a:ext uri="{FF2B5EF4-FFF2-40B4-BE49-F238E27FC236}">
                <a16:creationId xmlns:a16="http://schemas.microsoft.com/office/drawing/2014/main" id="{D769D71F-391B-4C5D-ADE7-32F65AE7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571500"/>
            <a:ext cx="14287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D46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43E9E-8919-45CB-9408-F7DBECF2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8700" y="666750"/>
            <a:ext cx="1085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第 7 頁</a:t>
            </a:r>
          </a:p>
        </p:txBody>
      </p:sp>
      <p:sp>
        <p:nvSpPr>
          <p:cNvPr id="5" name="placeholder-醫師端流程圖">
            <a:extLst xmlns:a="http://schemas.openxmlformats.org/drawingml/2006/main">
              <a:ext uri="{FF2B5EF4-FFF2-40B4-BE49-F238E27FC236}">
                <a16:creationId xmlns:a16="http://schemas.microsoft.com/office/drawing/2014/main" id="{AC56C4A8-1929-4734-9E3E-8BA375F4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6764000" cy="8134350"/>
          </a:xfrm>
          <a:prstGeom xmlns:a="http://schemas.openxmlformats.org/drawingml/2006/main" prst="roundRect">
            <a:avLst>
              <a:gd name="adj" fmla="val 1405"/>
            </a:avLst>
          </a:prstGeom>
          <a:solidFill xmlns:a="http://schemas.openxmlformats.org/drawingml/2006/main">
            <a:srgbClr val="174D39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D18DD2-7B94-41F3-98A3-C60F9F9A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6306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醫師端流程圖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7D135-BE4E-444F-853D-F8B32563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72150"/>
            <a:ext cx="1630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FE1"/>
                </a:solidFill>
              </a:defRPr>
            </a:pPr>
            <a:r>
              <a:rPr sz="1350">
                <a:solidFill>
                  <a:srgbClr val="D7EFE1"/>
                </a:solidFill>
              </a:rPr>
              <a:t>建議放醫師端工作台流程圖，強調『看整理後重點』。</a:t>
            </a:r>
          </a:p>
        </p:txBody>
      </p:sp>
    </p:spTree>
    <p:extLst>
      <p:ext uri="{BB962C8B-B14F-4D97-AF65-F5344CB8AC3E}">
        <p14:creationId xmlns:p14="http://schemas.microsoft.com/office/powerpoint/2010/main" val="124634652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CC0310-CF86-42EA-92F9-25A87AB5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5106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43C2E"/>
                </a:solidFill>
              </a:defRPr>
            </a:pPr>
            <a:r>
              <a:rPr sz="3750" b="1">
                <a:solidFill>
                  <a:srgbClr val="143C2E"/>
                </a:solidFill>
              </a:rPr>
              <a:t>FHIR 交付管線：從對話資料到可送出的醫療 Bundle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540FE87C-0496-44B6-A12E-F6044AEE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C18C"/>
          </a:solidFill>
          <a:ln xmlns:a="http://schemas.openxmlformats.org/drawingml/2006/main" w="0">
            <a:solidFill>
              <a:srgbClr val="65C18C"/>
            </a:solidFill>
            <a:prstDash val="solid"/>
          </a:ln>
        </p:spPr>
      </p:sp>
      <p:sp>
        <p:nvSpPr>
          <p:cNvPr id="3" name="page-chip">
            <a:extLst xmlns:a="http://schemas.openxmlformats.org/drawingml/2006/main">
              <a:ext uri="{FF2B5EF4-FFF2-40B4-BE49-F238E27FC236}">
                <a16:creationId xmlns:a16="http://schemas.microsoft.com/office/drawing/2014/main" id="{BECAC5F3-E94F-4591-BA4E-C35C03D8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571500"/>
            <a:ext cx="14287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2EA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181D3-B32E-403C-B501-A0C4277D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8700" y="666750"/>
            <a:ext cx="1085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3C2E"/>
                </a:solidFill>
              </a:defRPr>
            </a:pPr>
            <a:r>
              <a:rPr sz="1350" b="1">
                <a:solidFill>
                  <a:srgbClr val="143C2E"/>
                </a:solidFill>
              </a:rPr>
              <a:t>第 8 頁</a:t>
            </a:r>
          </a:p>
        </p:txBody>
      </p:sp>
      <p:sp>
        <p:nvSpPr>
          <p:cNvPr id="5" name="placeholder-FHIR 交付 Mermaid 圖">
            <a:extLst xmlns:a="http://schemas.openxmlformats.org/drawingml/2006/main">
              <a:ext uri="{FF2B5EF4-FFF2-40B4-BE49-F238E27FC236}">
                <a16:creationId xmlns:a16="http://schemas.microsoft.com/office/drawing/2014/main" id="{CDFF6F5A-720A-4CE8-A373-DC9717A8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8286750" cy="6560820"/>
          </a:xfrm>
          <a:prstGeom xmlns:a="http://schemas.openxmlformats.org/drawingml/2006/main" prst="roundRect">
            <a:avLst>
              <a:gd name="adj" fmla="val 1742"/>
            </a:avLst>
          </a:prstGeom>
          <a:solidFill xmlns:a="http://schemas.openxmlformats.org/drawingml/2006/main">
            <a:srgbClr val="E4F2EA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644B3-3526-43F5-B020-9701DE26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33900"/>
            <a:ext cx="7829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3C2E"/>
                </a:solidFill>
              </a:defRPr>
            </a:pPr>
            <a:r>
              <a:rPr sz="2100" b="1">
                <a:solidFill>
                  <a:srgbClr val="143C2E"/>
                </a:solidFill>
              </a:rPr>
              <a:t>FHIR 交付 Mermaid 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E511FE-388C-4145-97FC-42881BB2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782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7D6D"/>
                </a:solidFill>
              </a:defRPr>
            </a:pPr>
            <a:r>
              <a:rPr sz="1350">
                <a:solidFill>
                  <a:srgbClr val="5A7D6D"/>
                </a:solidFill>
              </a:rPr>
              <a:t>建議放 Bundle 建構與 validator 管線。</a:t>
            </a:r>
          </a:p>
        </p:txBody>
      </p:sp>
      <p:sp>
        <p:nvSpPr>
          <p:cNvPr id="8" name="placeholder-API 補充 Mermaid 圖">
            <a:extLst xmlns:a="http://schemas.openxmlformats.org/drawingml/2006/main">
              <a:ext uri="{FF2B5EF4-FFF2-40B4-BE49-F238E27FC236}">
                <a16:creationId xmlns:a16="http://schemas.microsoft.com/office/drawing/2014/main" id="{F1880124-0CA6-4FB4-9019-890022B7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81150"/>
            <a:ext cx="8286750" cy="6560820"/>
          </a:xfrm>
          <a:prstGeom xmlns:a="http://schemas.openxmlformats.org/drawingml/2006/main" prst="roundRect">
            <a:avLst>
              <a:gd name="adj" fmla="val 1742"/>
            </a:avLst>
          </a:prstGeom>
          <a:solidFill xmlns:a="http://schemas.openxmlformats.org/drawingml/2006/main">
            <a:srgbClr val="E4F2EA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C6503C-208D-4E32-ACB4-DA70F164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533900"/>
            <a:ext cx="7829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3C2E"/>
                </a:solidFill>
              </a:defRPr>
            </a:pPr>
            <a:r>
              <a:rPr sz="2100" b="1">
                <a:solidFill>
                  <a:srgbClr val="143C2E"/>
                </a:solidFill>
              </a:rPr>
              <a:t>API 補充 Mermaid 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E0FEE-8BD7-45F9-A75F-54AE06F4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72050"/>
            <a:ext cx="7829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7D6D"/>
                </a:solidFill>
              </a:defRPr>
            </a:pPr>
            <a:r>
              <a:rPr sz="1350">
                <a:solidFill>
                  <a:srgbClr val="5A7D6D"/>
                </a:solidFill>
              </a:rPr>
              <a:t>建議放 /api/chat/output 與 /api/fhir/bundle 的責任分工。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D40110-F4E2-4D54-959B-AD0568E7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2470"/>
            <a:ext cx="16764000" cy="1383030"/>
          </a:xfrm>
          <a:prstGeom xmlns:a="http://schemas.openxmlformats.org/drawingml/2006/main" prst="roundRect">
            <a:avLst>
              <a:gd name="adj" fmla="val 11019"/>
            </a:avLst>
          </a:prstGeom>
          <a:solidFill xmlns:a="http://schemas.openxmlformats.org/drawingml/2006/main">
            <a:srgbClr val="F4FBF7"/>
          </a:solidFill>
        </p:spPr>
      </p:sp>
      <p:sp>
        <p:nvSpPr>
          <p:cNvPr id="12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8596E2A4-1E3C-42D7-B962-11E434AA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553450"/>
            <a:ext cx="228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5C18C"/>
                </a:solidFill>
              </a:defRPr>
            </a:pPr>
            <a:r>
              <a:rPr sz="2100" b="1">
                <a:solidFill>
                  <a:srgbClr val="65C18C"/>
                </a:solidFill>
              </a:rPr>
              <a:t>•</a:t>
            </a:r>
          </a:p>
        </p:txBody>
      </p:sp>
      <p:sp>
        <p:nvSpPr>
          <p:cNvPr id="13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F17A1B50-5527-4A49-A883-079535CF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8553450"/>
            <a:ext cx="15944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3C2E"/>
                </a:solidFill>
              </a:defRPr>
            </a:pPr>
            <a:r>
              <a:rPr sz="1800">
                <a:solidFill>
                  <a:srgbClr val="143C2E"/>
                </a:solidFill>
              </a:rPr>
              <a:t>對話資料不直接送出，而是先轉成多個 FHIR resources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C9C9AA-E61B-4786-A88D-B24FA156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010650"/>
            <a:ext cx="1630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E0AD"/>
          </a:solidFill>
          <a:ln xmlns:a="http://schemas.openxmlformats.org/drawingml/2006/main" w="0">
            <a:solidFill>
              <a:srgbClr val="9DE0AD"/>
            </a:solidFill>
            <a:prstDash val="solid"/>
          </a:ln>
        </p:spPr>
      </p:sp>
      <p:sp>
        <p:nvSpPr>
          <p:cNvPr id="15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CC7DB0B4-2BC8-48AD-ADF4-9CECD2A1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163050"/>
            <a:ext cx="228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5C18C"/>
                </a:solidFill>
              </a:defRPr>
            </a:pPr>
            <a:r>
              <a:rPr sz="2100" b="1">
                <a:solidFill>
                  <a:srgbClr val="65C18C"/>
                </a:solidFill>
              </a:rPr>
              <a:t>•</a:t>
            </a:r>
          </a:p>
        </p:txBody>
      </p:sp>
      <p:sp>
        <p:nvSpPr>
          <p:cNvPr id="16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A7288B6F-7589-4A49-96C4-6993E175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163050"/>
            <a:ext cx="15944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3C2E"/>
                </a:solidFill>
              </a:defRPr>
            </a:pPr>
            <a:r>
              <a:rPr sz="1800">
                <a:solidFill>
                  <a:srgbClr val="143C2E"/>
                </a:solidFill>
              </a:rPr>
              <a:t>`/api/chat/output`：整理醫師摘要、病人審閱稿與 FHIR Draft 基礎輸出</a:t>
            </a:r>
          </a:p>
        </p:txBody>
      </p:sp>
    </p:spTree>
    <p:extLst>
      <p:ext uri="{BB962C8B-B14F-4D97-AF65-F5344CB8AC3E}">
        <p14:creationId xmlns:p14="http://schemas.microsoft.com/office/powerpoint/2010/main" val="78377494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7F81EB-3554-40E2-92CD-D8333087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5106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FHIR 在這個系統中的角色，不只是格式，而是資料交接能力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ACAB3D15-F5C6-43F1-B53D-B751C14D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E0AD"/>
          </a:solidFill>
          <a:ln xmlns:a="http://schemas.openxmlformats.org/drawingml/2006/main" w="0">
            <a:solidFill>
              <a:srgbClr val="9DE0AD"/>
            </a:solidFill>
            <a:prstDash val="solid"/>
          </a:ln>
        </p:spPr>
      </p:sp>
      <p:sp>
        <p:nvSpPr>
          <p:cNvPr id="3" name="page-chip">
            <a:extLst xmlns:a="http://schemas.openxmlformats.org/drawingml/2006/main">
              <a:ext uri="{FF2B5EF4-FFF2-40B4-BE49-F238E27FC236}">
                <a16:creationId xmlns:a16="http://schemas.microsoft.com/office/drawing/2014/main" id="{E7318124-35F9-497E-A2A5-E089D089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571500"/>
            <a:ext cx="14287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D46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3D73B-ED88-4395-A8A3-F947B954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8700" y="666750"/>
            <a:ext cx="1085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第 9 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4ADD1-A843-4C5A-8ACE-62DD8AD1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9442133" cy="8134350"/>
          </a:xfrm>
          <a:prstGeom xmlns:a="http://schemas.openxmlformats.org/drawingml/2006/main" prst="roundRect">
            <a:avLst>
              <a:gd name="adj" fmla="val 1874"/>
            </a:avLst>
          </a:prstGeom>
          <a:solidFill xmlns:a="http://schemas.openxmlformats.org/drawingml/2006/main">
            <a:srgbClr val="174A37"/>
          </a:solidFill>
        </p:spPr>
      </p:sp>
      <p:sp>
        <p:nvSpPr>
          <p:cNvPr id="6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9DA15F00-99E5-4342-A304-0550FD36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66900"/>
            <a:ext cx="228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DE0AD"/>
                </a:solidFill>
              </a:defRPr>
            </a:pPr>
            <a:r>
              <a:rPr sz="2100" b="1">
                <a:solidFill>
                  <a:srgbClr val="9DE0AD"/>
                </a:solidFill>
              </a:rPr>
              <a:t>•</a:t>
            </a:r>
          </a:p>
        </p:txBody>
      </p:sp>
      <p:sp>
        <p:nvSpPr>
          <p:cNvPr id="7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83492B40-C0BF-4C54-A9AC-280D6125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66900"/>
            <a:ext cx="8515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7EFE1"/>
                </a:solidFill>
              </a:defRPr>
            </a:pPr>
            <a:r>
              <a:rPr sz="1800">
                <a:solidFill>
                  <a:srgbClr val="D7EFE1"/>
                </a:solidFill>
              </a:rPr>
              <a:t>FHIR 讓 AI 整理結果不只是摘要，而是可交換、可追蹤的醫療資料</a:t>
            </a:r>
          </a:p>
        </p:txBody>
      </p:sp>
      <p:sp>
        <p:nvSpPr>
          <p:cNvPr id="8" name="placeholder-輔助視覺區">
            <a:extLst xmlns:a="http://schemas.openxmlformats.org/drawingml/2006/main">
              <a:ext uri="{FF2B5EF4-FFF2-40B4-BE49-F238E27FC236}">
                <a16:creationId xmlns:a16="http://schemas.microsoft.com/office/drawing/2014/main" id="{E92DF477-1F7F-405D-9021-42378FD1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7033" y="1581150"/>
            <a:ext cx="6978967" cy="7067550"/>
          </a:xfrm>
          <a:prstGeom xmlns:a="http://schemas.openxmlformats.org/drawingml/2006/main" prst="roundRect">
            <a:avLst>
              <a:gd name="adj" fmla="val 1638"/>
            </a:avLst>
          </a:prstGeom>
          <a:solidFill xmlns:a="http://schemas.openxmlformats.org/drawingml/2006/main">
            <a:srgbClr val="174D39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958EE-4222-4924-B773-BD95D27E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800600"/>
            <a:ext cx="6515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輔助視覺區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AE2591-4C3B-43DE-B61F-FB2896AE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238750"/>
            <a:ext cx="6515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FE1"/>
                </a:solidFill>
              </a:defRPr>
            </a:pPr>
            <a:r>
              <a:rPr sz="1350">
                <a:solidFill>
                  <a:srgbClr val="D7EFE1"/>
                </a:solidFill>
              </a:rPr>
              <a:t>此頁建議放與內容最相關的產品畫面、研究圖或概念示意。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F33A2F-A117-4E64-884A-965D5D2F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7033" y="8839200"/>
            <a:ext cx="6978967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23C2E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06009-FA46-4842-B56A-A1F64116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9048750"/>
            <a:ext cx="6553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DE0AD"/>
                </a:solidFill>
              </a:defRPr>
            </a:pPr>
            <a:r>
              <a:rPr sz="1500" b="1">
                <a:solidFill>
                  <a:srgbClr val="9DE0AD"/>
                </a:solidFill>
              </a:rPr>
              <a:t>一般 AI 陪聊停在對話；Rou Rou AI Companion 進一步把對話轉成可交換、可追蹤、可再利用的 FHIR 資料。</a:t>
            </a:r>
          </a:p>
        </p:txBody>
      </p:sp>
    </p:spTree>
    <p:extLst>
      <p:ext uri="{BB962C8B-B14F-4D97-AF65-F5344CB8AC3E}">
        <p14:creationId xmlns:p14="http://schemas.microsoft.com/office/powerpoint/2010/main" val="69089218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5B1EE0-C248-44EA-9957-F44CEE27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5106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Version 1：以 AI 陪伴與基本 FHIR 草稿為核心的初賽版本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50E187B2-33E6-46A6-8390-1D2616F4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E0AD"/>
          </a:solidFill>
          <a:ln xmlns:a="http://schemas.openxmlformats.org/drawingml/2006/main" w="0">
            <a:solidFill>
              <a:srgbClr val="9DE0AD"/>
            </a:solidFill>
            <a:prstDash val="solid"/>
          </a:ln>
        </p:spPr>
      </p:sp>
      <p:sp>
        <p:nvSpPr>
          <p:cNvPr id="3" name="page-chip">
            <a:extLst xmlns:a="http://schemas.openxmlformats.org/drawingml/2006/main">
              <a:ext uri="{FF2B5EF4-FFF2-40B4-BE49-F238E27FC236}">
                <a16:creationId xmlns:a16="http://schemas.microsoft.com/office/drawing/2014/main" id="{5C3CA340-BB9F-43AF-B19C-DBCE3349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571500"/>
            <a:ext cx="14287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D46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2975E-8CD7-40F4-96AC-FCEEA314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8700" y="666750"/>
            <a:ext cx="1085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第 10 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3A2EE-9D36-418B-A7E7-8346A028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9442133" cy="8134350"/>
          </a:xfrm>
          <a:prstGeom xmlns:a="http://schemas.openxmlformats.org/drawingml/2006/main" prst="roundRect">
            <a:avLst>
              <a:gd name="adj" fmla="val 1874"/>
            </a:avLst>
          </a:prstGeom>
          <a:solidFill xmlns:a="http://schemas.openxmlformats.org/drawingml/2006/main">
            <a:srgbClr val="174A37"/>
          </a:solidFill>
        </p:spPr>
      </p:sp>
      <p:sp>
        <p:nvSpPr>
          <p:cNvPr id="6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B227A713-19BD-4336-B811-22D7F8AF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66900"/>
            <a:ext cx="228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DE0AD"/>
                </a:solidFill>
              </a:defRPr>
            </a:pPr>
            <a:r>
              <a:rPr sz="2100" b="1">
                <a:solidFill>
                  <a:srgbClr val="9DE0AD"/>
                </a:solidFill>
              </a:rPr>
              <a:t>•</a:t>
            </a:r>
          </a:p>
        </p:txBody>
      </p:sp>
      <p:sp>
        <p:nvSpPr>
          <p:cNvPr id="7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7B915B85-24D4-4ADB-8E23-FAABDDFF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66900"/>
            <a:ext cx="8515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7EFE1"/>
                </a:solidFill>
              </a:defRPr>
            </a:pPr>
            <a:r>
              <a:rPr sz="1800">
                <a:solidFill>
                  <a:srgbClr val="D7EFE1"/>
                </a:solidFill>
              </a:rPr>
              <a:t>已具備 AI 陪伴式對話與多種互動模式</a:t>
            </a:r>
          </a:p>
        </p:txBody>
      </p:sp>
      <p:sp>
        <p:nvSpPr>
          <p:cNvPr id="8" name="placeholder-輔助視覺區">
            <a:extLst xmlns:a="http://schemas.openxmlformats.org/drawingml/2006/main">
              <a:ext uri="{FF2B5EF4-FFF2-40B4-BE49-F238E27FC236}">
                <a16:creationId xmlns:a16="http://schemas.microsoft.com/office/drawing/2014/main" id="{7D162700-56E3-4AD8-A338-196D1A84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7033" y="1581150"/>
            <a:ext cx="6978967" cy="7932420"/>
          </a:xfrm>
          <a:prstGeom xmlns:a="http://schemas.openxmlformats.org/drawingml/2006/main" prst="roundRect">
            <a:avLst>
              <a:gd name="adj" fmla="val 1638"/>
            </a:avLst>
          </a:prstGeom>
          <a:solidFill xmlns:a="http://schemas.openxmlformats.org/drawingml/2006/main">
            <a:srgbClr val="174D39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55806-A58F-4514-B82C-58B600D8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219700"/>
            <a:ext cx="6515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輔助視覺區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C68043-28DB-4239-81D1-EC7505F6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657850"/>
            <a:ext cx="6515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FE1"/>
                </a:solidFill>
              </a:defRPr>
            </a:pPr>
            <a:r>
              <a:rPr sz="1350">
                <a:solidFill>
                  <a:srgbClr val="D7EFE1"/>
                </a:solidFill>
              </a:rPr>
              <a:t>此頁建議放與內容最相關的產品畫面、研究圖或概念示意。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A3FE18-6B31-4E1B-880D-3F275BEC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9696450"/>
            <a:ext cx="697230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10578865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3DB169-7843-44AF-9C99-57E7BFBF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5106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Version 2：從 AI 陪伴原型，收斂成臨床整理與 FHIR 交付系統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BD011541-9B05-4890-8D66-8F87707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E0AD"/>
          </a:solidFill>
          <a:ln xmlns:a="http://schemas.openxmlformats.org/drawingml/2006/main" w="0">
            <a:solidFill>
              <a:srgbClr val="9DE0AD"/>
            </a:solidFill>
            <a:prstDash val="solid"/>
          </a:ln>
        </p:spPr>
      </p:sp>
      <p:sp>
        <p:nvSpPr>
          <p:cNvPr id="3" name="page-chip">
            <a:extLst xmlns:a="http://schemas.openxmlformats.org/drawingml/2006/main">
              <a:ext uri="{FF2B5EF4-FFF2-40B4-BE49-F238E27FC236}">
                <a16:creationId xmlns:a16="http://schemas.microsoft.com/office/drawing/2014/main" id="{462C94B9-D051-450F-9B6C-23C53BD8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571500"/>
            <a:ext cx="14287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D46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EB6B4-FCB8-431C-906E-C9895853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8700" y="666750"/>
            <a:ext cx="1085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第 11 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BF86AB-ADEC-4EA3-AB03-37FE7EA4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9442133" cy="8134350"/>
          </a:xfrm>
          <a:prstGeom xmlns:a="http://schemas.openxmlformats.org/drawingml/2006/main" prst="roundRect">
            <a:avLst>
              <a:gd name="adj" fmla="val 1874"/>
            </a:avLst>
          </a:prstGeom>
          <a:solidFill xmlns:a="http://schemas.openxmlformats.org/drawingml/2006/main">
            <a:srgbClr val="174A37"/>
          </a:solidFill>
        </p:spPr>
      </p:sp>
      <p:sp>
        <p:nvSpPr>
          <p:cNvPr id="6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0B62E983-A960-4ACF-A50C-0E4BC848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66900"/>
            <a:ext cx="228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DE0AD"/>
                </a:solidFill>
              </a:defRPr>
            </a:pPr>
            <a:r>
              <a:rPr sz="2100" b="1">
                <a:solidFill>
                  <a:srgbClr val="9DE0AD"/>
                </a:solidFill>
              </a:rPr>
              <a:t>•</a:t>
            </a:r>
          </a:p>
        </p:txBody>
      </p:sp>
      <p:sp>
        <p:nvSpPr>
          <p:cNvPr id="7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E15D8ECC-43BA-4040-9AF5-FFC67FC7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66900"/>
            <a:ext cx="8515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7EFE1"/>
                </a:solidFill>
              </a:defRPr>
            </a:pPr>
            <a:r>
              <a:rPr sz="1800">
                <a:solidFill>
                  <a:srgbClr val="D7EFE1"/>
                </a:solidFill>
              </a:rPr>
              <a:t>強化 HAM-D / PHQ-9 雙軌蒐集與評估邏輯</a:t>
            </a:r>
          </a:p>
        </p:txBody>
      </p:sp>
      <p:sp>
        <p:nvSpPr>
          <p:cNvPr id="8" name="placeholder-輔助視覺區">
            <a:extLst xmlns:a="http://schemas.openxmlformats.org/drawingml/2006/main">
              <a:ext uri="{FF2B5EF4-FFF2-40B4-BE49-F238E27FC236}">
                <a16:creationId xmlns:a16="http://schemas.microsoft.com/office/drawing/2014/main" id="{FE6EEC09-A7D4-45F9-83A7-6E8B1192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7033" y="1581150"/>
            <a:ext cx="6978967" cy="7932420"/>
          </a:xfrm>
          <a:prstGeom xmlns:a="http://schemas.openxmlformats.org/drawingml/2006/main" prst="roundRect">
            <a:avLst>
              <a:gd name="adj" fmla="val 1638"/>
            </a:avLst>
          </a:prstGeom>
          <a:solidFill xmlns:a="http://schemas.openxmlformats.org/drawingml/2006/main">
            <a:srgbClr val="174D39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2C4F91-220F-4E4A-8FFC-F0E261AC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219700"/>
            <a:ext cx="6515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輔助視覺區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7266DD-F334-4362-AB46-E4A55B23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657850"/>
            <a:ext cx="6515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FE1"/>
                </a:solidFill>
              </a:defRPr>
            </a:pPr>
            <a:r>
              <a:rPr sz="1350">
                <a:solidFill>
                  <a:srgbClr val="D7EFE1"/>
                </a:solidFill>
              </a:rPr>
              <a:t>此頁建議放與內容最相關的產品畫面、研究圖或概念示意。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7DB4FE-F41E-49A0-B5A7-E2D097C2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9696450"/>
            <a:ext cx="697230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61330121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562D06-7F06-49E0-8D32-558DC1D5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5106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HAM-D 在聊天中逐步生成，PHQ-9 作為另一條並行量表軌道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9407003C-076A-454F-9E44-8B7CFBA3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E0AD"/>
          </a:solidFill>
          <a:ln xmlns:a="http://schemas.openxmlformats.org/drawingml/2006/main" w="0">
            <a:solidFill>
              <a:srgbClr val="9DE0AD"/>
            </a:solidFill>
            <a:prstDash val="solid"/>
          </a:ln>
        </p:spPr>
      </p:sp>
      <p:sp>
        <p:nvSpPr>
          <p:cNvPr id="3" name="page-chip">
            <a:extLst xmlns:a="http://schemas.openxmlformats.org/drawingml/2006/main">
              <a:ext uri="{FF2B5EF4-FFF2-40B4-BE49-F238E27FC236}">
                <a16:creationId xmlns:a16="http://schemas.microsoft.com/office/drawing/2014/main" id="{D2CD6FAD-A32B-40A9-97BE-3376AAA6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571500"/>
            <a:ext cx="14287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D46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4F1E4-8A41-4DFD-9CA6-F9A1D593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8700" y="666750"/>
            <a:ext cx="1085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第 12 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A621E-A4BC-4E86-A2EA-7E0FBB0E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9442133" cy="8134350"/>
          </a:xfrm>
          <a:prstGeom xmlns:a="http://schemas.openxmlformats.org/drawingml/2006/main" prst="roundRect">
            <a:avLst>
              <a:gd name="adj" fmla="val 1874"/>
            </a:avLst>
          </a:prstGeom>
          <a:solidFill xmlns:a="http://schemas.openxmlformats.org/drawingml/2006/main">
            <a:srgbClr val="174A37"/>
          </a:solidFill>
        </p:spPr>
      </p:sp>
      <p:sp>
        <p:nvSpPr>
          <p:cNvPr id="6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A3805770-3ED7-495D-BB80-514CE60F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66900"/>
            <a:ext cx="228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DE0AD"/>
                </a:solidFill>
              </a:defRPr>
            </a:pPr>
            <a:r>
              <a:rPr sz="2100" b="1">
                <a:solidFill>
                  <a:srgbClr val="9DE0AD"/>
                </a:solidFill>
              </a:rPr>
              <a:t>•</a:t>
            </a:r>
          </a:p>
        </p:txBody>
      </p:sp>
      <p:sp>
        <p:nvSpPr>
          <p:cNvPr id="7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5A820D35-598E-4D2B-9578-1229DB8F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66900"/>
            <a:ext cx="8515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7EFE1"/>
                </a:solidFill>
              </a:defRPr>
            </a:pPr>
            <a:r>
              <a:rPr sz="1800">
                <a:solidFill>
                  <a:srgbClr val="D7EFE1"/>
                </a:solidFill>
              </a:rPr>
              <a:t>`HAM-D` 不是直接填表，而是透過對話逐步累積線索</a:t>
            </a:r>
          </a:p>
        </p:txBody>
      </p:sp>
      <p:sp>
        <p:nvSpPr>
          <p:cNvPr id="8" name="placeholder-雙軌量表示意區">
            <a:extLst xmlns:a="http://schemas.openxmlformats.org/drawingml/2006/main">
              <a:ext uri="{FF2B5EF4-FFF2-40B4-BE49-F238E27FC236}">
                <a16:creationId xmlns:a16="http://schemas.microsoft.com/office/drawing/2014/main" id="{E0E0D89F-C3D2-45A5-82C4-F6002681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7033" y="1581150"/>
            <a:ext cx="6978967" cy="7932420"/>
          </a:xfrm>
          <a:prstGeom xmlns:a="http://schemas.openxmlformats.org/drawingml/2006/main" prst="roundRect">
            <a:avLst>
              <a:gd name="adj" fmla="val 1638"/>
            </a:avLst>
          </a:prstGeom>
          <a:solidFill xmlns:a="http://schemas.openxmlformats.org/drawingml/2006/main">
            <a:srgbClr val="174D39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B7F929-7556-4AE9-8625-4DC7101B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219700"/>
            <a:ext cx="6515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雙軌量表示意區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7719D-4225-411D-A4BE-AFD0EB3C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657850"/>
            <a:ext cx="6515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FE1"/>
                </a:solidFill>
              </a:defRPr>
            </a:pPr>
            <a:r>
              <a:rPr sz="1350">
                <a:solidFill>
                  <a:srgbClr val="D7EFE1"/>
                </a:solidFill>
              </a:rPr>
              <a:t>此頁建議放聊天流 trace、HAM-D 累積痕跡與 PHQ-9 完成畫面。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34279A-C899-4B53-9FAB-932F277C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9696450"/>
            <a:ext cx="6972300" cy="1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5806195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0CCD11-E029-4F3C-BF0C-BE2CDD34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5106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43C2E"/>
                </a:solidFill>
              </a:defRPr>
            </a:pPr>
            <a:r>
              <a:rPr sz="3750" b="1">
                <a:solidFill>
                  <a:srgbClr val="143C2E"/>
                </a:solidFill>
              </a:rPr>
              <a:t>五個最重要的 FHIR resource，先從 Patient 與 QuestionnaireResponse 開始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1F79501C-2978-43C3-A4D6-3DB8FDB0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C18C"/>
          </a:solidFill>
          <a:ln xmlns:a="http://schemas.openxmlformats.org/drawingml/2006/main" w="0">
            <a:solidFill>
              <a:srgbClr val="65C18C"/>
            </a:solidFill>
            <a:prstDash val="solid"/>
          </a:ln>
        </p:spPr>
      </p:sp>
      <p:sp>
        <p:nvSpPr>
          <p:cNvPr id="3" name="page-chip">
            <a:extLst xmlns:a="http://schemas.openxmlformats.org/drawingml/2006/main">
              <a:ext uri="{FF2B5EF4-FFF2-40B4-BE49-F238E27FC236}">
                <a16:creationId xmlns:a16="http://schemas.microsoft.com/office/drawing/2014/main" id="{1AB417E5-E825-4448-BF9E-141ED494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571500"/>
            <a:ext cx="14287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2EA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35322-1815-4A4A-AE45-E224DB6B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8700" y="666750"/>
            <a:ext cx="1085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3C2E"/>
                </a:solidFill>
              </a:defRPr>
            </a:pPr>
            <a:r>
              <a:rPr sz="1350" b="1">
                <a:solidFill>
                  <a:srgbClr val="143C2E"/>
                </a:solidFill>
              </a:rPr>
              <a:t>第 13 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E161E-0F95-41BC-ACC7-F51021E8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7423785" cy="8134350"/>
          </a:xfrm>
          <a:prstGeom xmlns:a="http://schemas.openxmlformats.org/drawingml/2006/main" prst="roundRect">
            <a:avLst>
              <a:gd name="adj" fmla="val 2053"/>
            </a:avLst>
          </a:prstGeom>
          <a:solidFill xmlns:a="http://schemas.openxmlformats.org/drawingml/2006/main">
            <a:srgbClr val="F4FBF7"/>
          </a:solidFill>
        </p:spPr>
      </p:sp>
      <p:sp>
        <p:nvSpPr>
          <p:cNvPr id="6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E6E13167-B87A-43C0-A85F-7F81B02A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47850"/>
            <a:ext cx="228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5C18C"/>
                </a:solidFill>
              </a:defRPr>
            </a:pPr>
            <a:r>
              <a:rPr sz="2100" b="1">
                <a:solidFill>
                  <a:srgbClr val="65C18C"/>
                </a:solidFill>
              </a:rPr>
              <a:t>•</a:t>
            </a:r>
          </a:p>
        </p:txBody>
      </p:sp>
      <p:sp>
        <p:nvSpPr>
          <p:cNvPr id="7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8CAD1F07-4C58-4852-8353-140217A6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47850"/>
            <a:ext cx="6534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3C2E"/>
                </a:solidFill>
              </a:defRPr>
            </a:pPr>
            <a:r>
              <a:rPr sz="1800">
                <a:solidFill>
                  <a:srgbClr val="143C2E"/>
                </a:solidFill>
              </a:rPr>
              <a:t>`Patient`：承接病人身份與基本資料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2DAA0C-CA67-4A06-BB25-39A76D11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2485" y="1581150"/>
            <a:ext cx="9073515" cy="8134350"/>
          </a:xfrm>
          <a:prstGeom xmlns:a="http://schemas.openxmlformats.org/drawingml/2006/main" prst="roundRect">
            <a:avLst>
              <a:gd name="adj" fmla="val 1874"/>
            </a:avLst>
          </a:prstGeom>
          <a:solidFill xmlns:a="http://schemas.openxmlformats.org/drawingml/2006/main">
            <a:srgbClr val="F7FCF9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33278-3672-4D59-AA40-11D0DAAD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47850"/>
            <a:ext cx="8534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3C2E"/>
                </a:solidFill>
              </a:defRPr>
            </a:pPr>
            <a:r>
              <a:rPr sz="2100" b="1">
                <a:solidFill>
                  <a:srgbClr val="143C2E"/>
                </a:solidFill>
              </a:rPr>
              <a:t>格式示意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C46575-2152-4CA1-97B2-B1D0D95F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24100"/>
            <a:ext cx="8534400" cy="714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A7D6D"/>
                </a:solidFill>
              </a:defRPr>
            </a:pPr>
            <a:r>
              <a:rPr sz="1650">
                <a:solidFill>
                  <a:srgbClr val="5A7D6D"/>
                </a:solidFill>
              </a:rPr>
              <a:t>```text</a:t>
            </a:r>
          </a:p>
        </p:txBody>
      </p:sp>
    </p:spTree>
    <p:extLst>
      <p:ext uri="{BB962C8B-B14F-4D97-AF65-F5344CB8AC3E}">
        <p14:creationId xmlns:p14="http://schemas.microsoft.com/office/powerpoint/2010/main" val="183844061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9374800-B781-4E2D-B457-47D4B7DC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5106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43C2E"/>
                </a:solidFill>
              </a:defRPr>
            </a:pPr>
            <a:r>
              <a:rPr sz="3750" b="1">
                <a:solidFill>
                  <a:srgbClr val="143C2E"/>
                </a:solidFill>
              </a:rPr>
              <a:t>Observation、ClinicalImpression 與 Composition：從訊號到交接文件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B6D944BF-1203-4DC2-8C80-28B83CAB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C18C"/>
          </a:solidFill>
          <a:ln xmlns:a="http://schemas.openxmlformats.org/drawingml/2006/main" w="0">
            <a:solidFill>
              <a:srgbClr val="65C18C"/>
            </a:solidFill>
            <a:prstDash val="solid"/>
          </a:ln>
        </p:spPr>
      </p:sp>
      <p:sp>
        <p:nvSpPr>
          <p:cNvPr id="3" name="page-chip">
            <a:extLst xmlns:a="http://schemas.openxmlformats.org/drawingml/2006/main">
              <a:ext uri="{FF2B5EF4-FFF2-40B4-BE49-F238E27FC236}">
                <a16:creationId xmlns:a16="http://schemas.microsoft.com/office/drawing/2014/main" id="{6B7ACEE0-EA77-411B-8856-8048FE22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571500"/>
            <a:ext cx="14287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2EA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E6203-B6CD-49E6-AFE2-3695F917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8700" y="666750"/>
            <a:ext cx="1085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3C2E"/>
                </a:solidFill>
              </a:defRPr>
            </a:pPr>
            <a:r>
              <a:rPr sz="1350" b="1">
                <a:solidFill>
                  <a:srgbClr val="143C2E"/>
                </a:solidFill>
              </a:rPr>
              <a:t>第 14 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49335-9108-4667-8D12-E51ACC09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7423785" cy="8134350"/>
          </a:xfrm>
          <a:prstGeom xmlns:a="http://schemas.openxmlformats.org/drawingml/2006/main" prst="roundRect">
            <a:avLst>
              <a:gd name="adj" fmla="val 2053"/>
            </a:avLst>
          </a:prstGeom>
          <a:solidFill xmlns:a="http://schemas.openxmlformats.org/drawingml/2006/main">
            <a:srgbClr val="F4FBF7"/>
          </a:solidFill>
        </p:spPr>
      </p:sp>
      <p:sp>
        <p:nvSpPr>
          <p:cNvPr id="6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82AA1BE0-2CCE-4177-8557-3B199721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47850"/>
            <a:ext cx="228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5C18C"/>
                </a:solidFill>
              </a:defRPr>
            </a:pPr>
            <a:r>
              <a:rPr sz="2100" b="1">
                <a:solidFill>
                  <a:srgbClr val="65C18C"/>
                </a:solidFill>
              </a:rPr>
              <a:t>•</a:t>
            </a:r>
          </a:p>
        </p:txBody>
      </p:sp>
      <p:sp>
        <p:nvSpPr>
          <p:cNvPr id="7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BBD12446-2535-4238-B988-1DAD948A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47850"/>
            <a:ext cx="6534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3C2E"/>
                </a:solidFill>
              </a:defRPr>
            </a:pPr>
            <a:r>
              <a:rPr sz="1800">
                <a:solidFill>
                  <a:srgbClr val="143C2E"/>
                </a:solidFill>
              </a:rPr>
              <a:t>`Observation`：承接症狀訊號與量化結果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717E70-4D5E-40F7-9AE6-069EF1A9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2485" y="1581150"/>
            <a:ext cx="9073515" cy="8134350"/>
          </a:xfrm>
          <a:prstGeom xmlns:a="http://schemas.openxmlformats.org/drawingml/2006/main" prst="roundRect">
            <a:avLst>
              <a:gd name="adj" fmla="val 1874"/>
            </a:avLst>
          </a:prstGeom>
          <a:solidFill xmlns:a="http://schemas.openxmlformats.org/drawingml/2006/main">
            <a:srgbClr val="F7FCF9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083BC9-BEAC-4D94-9C94-6A264762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47850"/>
            <a:ext cx="8534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3C2E"/>
                </a:solidFill>
              </a:defRPr>
            </a:pPr>
            <a:r>
              <a:rPr sz="2100" b="1">
                <a:solidFill>
                  <a:srgbClr val="143C2E"/>
                </a:solidFill>
              </a:rPr>
              <a:t>格式示意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59707-87D2-46CE-9C15-27C25480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24100"/>
            <a:ext cx="8534400" cy="714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A7D6D"/>
                </a:solidFill>
              </a:defRPr>
            </a:pPr>
            <a:r>
              <a:rPr sz="1650">
                <a:solidFill>
                  <a:srgbClr val="5A7D6D"/>
                </a:solidFill>
              </a:rPr>
              <a:t>```text</a:t>
            </a:r>
          </a:p>
        </p:txBody>
      </p:sp>
    </p:spTree>
    <p:extLst>
      <p:ext uri="{BB962C8B-B14F-4D97-AF65-F5344CB8AC3E}">
        <p14:creationId xmlns:p14="http://schemas.microsoft.com/office/powerpoint/2010/main" val="80711719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98308B-459D-41C1-B845-455A1A45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5106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43C2E"/>
                </a:solidFill>
              </a:defRPr>
            </a:pPr>
            <a:r>
              <a:rPr sz="3750" b="1">
                <a:solidFill>
                  <a:srgbClr val="143C2E"/>
                </a:solidFill>
              </a:rPr>
              <a:t>Demo：病人如何開始與系統互動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63DB2887-5337-4AE9-9648-96CD0316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C18C"/>
          </a:solidFill>
          <a:ln xmlns:a="http://schemas.openxmlformats.org/drawingml/2006/main" w="0">
            <a:solidFill>
              <a:srgbClr val="65C18C"/>
            </a:solidFill>
            <a:prstDash val="solid"/>
          </a:ln>
        </p:spPr>
      </p:sp>
      <p:sp>
        <p:nvSpPr>
          <p:cNvPr id="3" name="page-chip">
            <a:extLst xmlns:a="http://schemas.openxmlformats.org/drawingml/2006/main">
              <a:ext uri="{FF2B5EF4-FFF2-40B4-BE49-F238E27FC236}">
                <a16:creationId xmlns:a16="http://schemas.microsoft.com/office/drawing/2014/main" id="{4DBD309A-7D6C-4195-9B6B-03CD0A74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571500"/>
            <a:ext cx="14287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2EA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59A5C-87D5-4066-AB92-83CAF9EA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8700" y="666750"/>
            <a:ext cx="1085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3C2E"/>
                </a:solidFill>
              </a:defRPr>
            </a:pPr>
            <a:r>
              <a:rPr sz="1350" b="1">
                <a:solidFill>
                  <a:srgbClr val="143C2E"/>
                </a:solidFill>
              </a:rPr>
              <a:t>第 15 頁</a:t>
            </a:r>
          </a:p>
        </p:txBody>
      </p:sp>
      <p:sp>
        <p:nvSpPr>
          <p:cNvPr id="5" name="placeholder-截圖 1">
            <a:extLst xmlns:a="http://schemas.openxmlformats.org/drawingml/2006/main">
              <a:ext uri="{FF2B5EF4-FFF2-40B4-BE49-F238E27FC236}">
                <a16:creationId xmlns:a16="http://schemas.microsoft.com/office/drawing/2014/main" id="{2A1F3364-282E-44DE-8606-6D49CB11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9921240" cy="8134350"/>
          </a:xfrm>
          <a:prstGeom xmlns:a="http://schemas.openxmlformats.org/drawingml/2006/main" prst="roundRect">
            <a:avLst>
              <a:gd name="adj" fmla="val 1405"/>
            </a:avLst>
          </a:prstGeom>
          <a:solidFill xmlns:a="http://schemas.openxmlformats.org/drawingml/2006/main">
            <a:srgbClr val="E4F2EA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5FF9C-45C2-41E9-BAE4-AEDC5EEC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9467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3C2E"/>
                </a:solidFill>
              </a:defRPr>
            </a:pPr>
            <a:r>
              <a:rPr sz="2100" b="1">
                <a:solidFill>
                  <a:srgbClr val="143C2E"/>
                </a:solidFill>
              </a:rPr>
              <a:t>截圖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7E0960-3F65-41B1-9957-927649E6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72150"/>
            <a:ext cx="9467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7D6D"/>
                </a:solidFill>
              </a:defRPr>
            </a:pPr>
            <a:r>
              <a:rPr sz="1350">
                <a:solidFill>
                  <a:srgbClr val="5A7D6D"/>
                </a:solidFill>
              </a:rPr>
              <a:t>病人基本資料頁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C6846-B745-4CAA-A4CA-E93CD9AD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1840" y="1581150"/>
            <a:ext cx="6614160" cy="8134350"/>
          </a:xfrm>
          <a:prstGeom xmlns:a="http://schemas.openxmlformats.org/drawingml/2006/main" prst="roundRect">
            <a:avLst>
              <a:gd name="adj" fmla="val 2304"/>
            </a:avLst>
          </a:prstGeom>
          <a:solidFill xmlns:a="http://schemas.openxmlformats.org/drawingml/2006/main">
            <a:srgbClr val="F4FBF7"/>
          </a:solidFill>
        </p:spPr>
      </p:sp>
      <p:sp>
        <p:nvSpPr>
          <p:cNvPr id="9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36642FF0-4CD0-41A2-941A-2B30F0AF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828800"/>
            <a:ext cx="228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5C18C"/>
                </a:solidFill>
              </a:defRPr>
            </a:pPr>
            <a:r>
              <a:rPr sz="2100" b="1">
                <a:solidFill>
                  <a:srgbClr val="65C18C"/>
                </a:solidFill>
              </a:rPr>
              <a:t>•</a:t>
            </a:r>
          </a:p>
        </p:txBody>
      </p:sp>
      <p:sp>
        <p:nvSpPr>
          <p:cNvPr id="10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D73300DB-4E1E-4FC7-B7D9-0972389C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828800"/>
            <a:ext cx="5753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3C2E"/>
                </a:solidFill>
              </a:defRPr>
            </a:pPr>
            <a:r>
              <a:rPr sz="1800">
                <a:solidFill>
                  <a:srgbClr val="143C2E"/>
                </a:solidFill>
              </a:rPr>
              <a:t>病人先建立基本資料，再進入互動流程</a:t>
            </a:r>
          </a:p>
        </p:txBody>
      </p:sp>
    </p:spTree>
    <p:extLst>
      <p:ext uri="{BB962C8B-B14F-4D97-AF65-F5344CB8AC3E}">
        <p14:creationId xmlns:p14="http://schemas.microsoft.com/office/powerpoint/2010/main" val="29908930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9B88E4-1DE0-414A-95DF-95D1E6AA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5106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43C2E"/>
                </a:solidFill>
              </a:defRPr>
            </a:pPr>
            <a:r>
              <a:rPr sz="3750" b="1">
                <a:solidFill>
                  <a:srgbClr val="143C2E"/>
                </a:solidFill>
              </a:rPr>
              <a:t>Demo：AI 如何在聊天中逐步引導並形成 HAM-D 線索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068BE63B-DB01-4CE5-A1B3-71AED49A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C18C"/>
          </a:solidFill>
          <a:ln xmlns:a="http://schemas.openxmlformats.org/drawingml/2006/main" w="0">
            <a:solidFill>
              <a:srgbClr val="65C18C"/>
            </a:solidFill>
            <a:prstDash val="solid"/>
          </a:ln>
        </p:spPr>
      </p:sp>
      <p:sp>
        <p:nvSpPr>
          <p:cNvPr id="3" name="page-chip">
            <a:extLst xmlns:a="http://schemas.openxmlformats.org/drawingml/2006/main">
              <a:ext uri="{FF2B5EF4-FFF2-40B4-BE49-F238E27FC236}">
                <a16:creationId xmlns:a16="http://schemas.microsoft.com/office/drawing/2014/main" id="{3B7688DB-F15C-4B46-945A-6E3BB05F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571500"/>
            <a:ext cx="14287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2EA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B2F22-A617-4A2F-95FA-30A25D6D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8700" y="666750"/>
            <a:ext cx="1085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3C2E"/>
                </a:solidFill>
              </a:defRPr>
            </a:pPr>
            <a:r>
              <a:rPr sz="1350" b="1">
                <a:solidFill>
                  <a:srgbClr val="143C2E"/>
                </a:solidFill>
              </a:rPr>
              <a:t>第 16 頁</a:t>
            </a:r>
          </a:p>
        </p:txBody>
      </p:sp>
      <p:sp>
        <p:nvSpPr>
          <p:cNvPr id="5" name="placeholder-截圖 1">
            <a:extLst xmlns:a="http://schemas.openxmlformats.org/drawingml/2006/main">
              <a:ext uri="{FF2B5EF4-FFF2-40B4-BE49-F238E27FC236}">
                <a16:creationId xmlns:a16="http://schemas.microsoft.com/office/drawing/2014/main" id="{6C0B5F0A-61BD-4C2E-92AC-16D11CBF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9921240" cy="8134350"/>
          </a:xfrm>
          <a:prstGeom xmlns:a="http://schemas.openxmlformats.org/drawingml/2006/main" prst="roundRect">
            <a:avLst>
              <a:gd name="adj" fmla="val 1405"/>
            </a:avLst>
          </a:prstGeom>
          <a:solidFill xmlns:a="http://schemas.openxmlformats.org/drawingml/2006/main">
            <a:srgbClr val="E4F2EA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81839-F939-45EC-92A2-E1834CCF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9467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3C2E"/>
                </a:solidFill>
              </a:defRPr>
            </a:pPr>
            <a:r>
              <a:rPr sz="2100" b="1">
                <a:solidFill>
                  <a:srgbClr val="143C2E"/>
                </a:solidFill>
              </a:rPr>
              <a:t>截圖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950D4-364F-452B-A1A1-7054FF98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72150"/>
            <a:ext cx="9467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7D6D"/>
                </a:solidFill>
              </a:defRPr>
            </a:pPr>
            <a:r>
              <a:rPr sz="1350">
                <a:solidFill>
                  <a:srgbClr val="5A7D6D"/>
                </a:solidFill>
              </a:rPr>
              <a:t>代表 AI 追問品質的聊天截圖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6F64F-024B-4C1B-9148-B6AB7A8F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1840" y="1581150"/>
            <a:ext cx="6614160" cy="8134350"/>
          </a:xfrm>
          <a:prstGeom xmlns:a="http://schemas.openxmlformats.org/drawingml/2006/main" prst="roundRect">
            <a:avLst>
              <a:gd name="adj" fmla="val 2304"/>
            </a:avLst>
          </a:prstGeom>
          <a:solidFill xmlns:a="http://schemas.openxmlformats.org/drawingml/2006/main">
            <a:srgbClr val="F4FBF7"/>
          </a:solidFill>
        </p:spPr>
      </p:sp>
      <p:sp>
        <p:nvSpPr>
          <p:cNvPr id="9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AFEED3A1-4CBD-4ABC-A111-359EC1E2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828800"/>
            <a:ext cx="228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5C18C"/>
                </a:solidFill>
              </a:defRPr>
            </a:pPr>
            <a:r>
              <a:rPr sz="2100" b="1">
                <a:solidFill>
                  <a:srgbClr val="65C18C"/>
                </a:solidFill>
              </a:rPr>
              <a:t>•</a:t>
            </a:r>
          </a:p>
        </p:txBody>
      </p:sp>
      <p:sp>
        <p:nvSpPr>
          <p:cNvPr id="10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CF2FD02D-267B-43C2-92B3-86F2D21A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828800"/>
            <a:ext cx="5753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3C2E"/>
                </a:solidFill>
              </a:defRPr>
            </a:pPr>
            <a:r>
              <a:rPr sz="1800">
                <a:solidFill>
                  <a:srgbClr val="143C2E"/>
                </a:solidFill>
              </a:rPr>
              <a:t>AI 不只是回應，而是會追問症狀、原因與功能影響</a:t>
            </a:r>
          </a:p>
        </p:txBody>
      </p:sp>
    </p:spTree>
    <p:extLst>
      <p:ext uri="{BB962C8B-B14F-4D97-AF65-F5344CB8AC3E}">
        <p14:creationId xmlns:p14="http://schemas.microsoft.com/office/powerpoint/2010/main" val="39827672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958380-C409-4EAA-BDD0-A57443C3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5106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43C2E"/>
                </a:solidFill>
              </a:defRPr>
            </a:pPr>
            <a:r>
              <a:rPr sz="3750" b="1">
                <a:solidFill>
                  <a:srgbClr val="143C2E"/>
                </a:solidFill>
              </a:rPr>
              <a:t>Demo：PHQ-9 結構化量表，如何與報表整理接軌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ACE4A875-C609-4D96-8CC2-E9EBD1C9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C18C"/>
          </a:solidFill>
          <a:ln xmlns:a="http://schemas.openxmlformats.org/drawingml/2006/main" w="0">
            <a:solidFill>
              <a:srgbClr val="65C18C"/>
            </a:solidFill>
            <a:prstDash val="solid"/>
          </a:ln>
        </p:spPr>
      </p:sp>
      <p:sp>
        <p:nvSpPr>
          <p:cNvPr id="3" name="page-chip">
            <a:extLst xmlns:a="http://schemas.openxmlformats.org/drawingml/2006/main">
              <a:ext uri="{FF2B5EF4-FFF2-40B4-BE49-F238E27FC236}">
                <a16:creationId xmlns:a16="http://schemas.microsoft.com/office/drawing/2014/main" id="{E307EAF3-66BA-4D78-9837-5501E288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571500"/>
            <a:ext cx="14287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2EA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561F6-3749-4463-92E7-93C0FEC8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8700" y="666750"/>
            <a:ext cx="1085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3C2E"/>
                </a:solidFill>
              </a:defRPr>
            </a:pPr>
            <a:r>
              <a:rPr sz="1350" b="1">
                <a:solidFill>
                  <a:srgbClr val="143C2E"/>
                </a:solidFill>
              </a:rPr>
              <a:t>第 17 頁</a:t>
            </a:r>
          </a:p>
        </p:txBody>
      </p:sp>
      <p:sp>
        <p:nvSpPr>
          <p:cNvPr id="5" name="placeholder-截圖 1">
            <a:extLst xmlns:a="http://schemas.openxmlformats.org/drawingml/2006/main">
              <a:ext uri="{FF2B5EF4-FFF2-40B4-BE49-F238E27FC236}">
                <a16:creationId xmlns:a16="http://schemas.microsoft.com/office/drawing/2014/main" id="{1F050B10-B404-47BD-BB7F-2450DF47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9921240" cy="8134350"/>
          </a:xfrm>
          <a:prstGeom xmlns:a="http://schemas.openxmlformats.org/drawingml/2006/main" prst="roundRect">
            <a:avLst>
              <a:gd name="adj" fmla="val 1405"/>
            </a:avLst>
          </a:prstGeom>
          <a:solidFill xmlns:a="http://schemas.openxmlformats.org/drawingml/2006/main">
            <a:srgbClr val="E4F2EA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7C158F-0C92-4296-B515-AB21AE92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9467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3C2E"/>
                </a:solidFill>
              </a:defRPr>
            </a:pPr>
            <a:r>
              <a:rPr sz="2100" b="1">
                <a:solidFill>
                  <a:srgbClr val="143C2E"/>
                </a:solidFill>
              </a:rPr>
              <a:t>截圖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18FC8-E882-446B-B606-3AD6F081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72150"/>
            <a:ext cx="9467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7D6D"/>
                </a:solidFill>
              </a:defRPr>
            </a:pPr>
            <a:r>
              <a:rPr sz="1350">
                <a:solidFill>
                  <a:srgbClr val="5A7D6D"/>
                </a:solidFill>
              </a:rPr>
              <a:t>PHQ-9 填寫頁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4937C-9658-406C-A468-62770329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1840" y="1581150"/>
            <a:ext cx="6614160" cy="8134350"/>
          </a:xfrm>
          <a:prstGeom xmlns:a="http://schemas.openxmlformats.org/drawingml/2006/main" prst="roundRect">
            <a:avLst>
              <a:gd name="adj" fmla="val 2304"/>
            </a:avLst>
          </a:prstGeom>
          <a:solidFill xmlns:a="http://schemas.openxmlformats.org/drawingml/2006/main">
            <a:srgbClr val="F4FBF7"/>
          </a:solidFill>
        </p:spPr>
      </p:sp>
      <p:sp>
        <p:nvSpPr>
          <p:cNvPr id="9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680DE3E0-8A57-47AA-A44B-DA2E8ACA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828800"/>
            <a:ext cx="228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5C18C"/>
                </a:solidFill>
              </a:defRPr>
            </a:pPr>
            <a:r>
              <a:rPr sz="2100" b="1">
                <a:solidFill>
                  <a:srgbClr val="65C18C"/>
                </a:solidFill>
              </a:rPr>
              <a:t>•</a:t>
            </a:r>
          </a:p>
        </p:txBody>
      </p:sp>
      <p:sp>
        <p:nvSpPr>
          <p:cNvPr id="10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A0F477D0-D65E-4F5F-88F9-56B9A57E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828800"/>
            <a:ext cx="5753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3C2E"/>
                </a:solidFill>
              </a:defRPr>
            </a:pPr>
            <a:r>
              <a:rPr sz="1800">
                <a:solidFill>
                  <a:srgbClr val="143C2E"/>
                </a:solidFill>
              </a:rPr>
              <a:t>`PHQ-9` 提供快速、標準化的自評分數</a:t>
            </a:r>
          </a:p>
        </p:txBody>
      </p:sp>
    </p:spTree>
    <p:extLst>
      <p:ext uri="{BB962C8B-B14F-4D97-AF65-F5344CB8AC3E}">
        <p14:creationId xmlns:p14="http://schemas.microsoft.com/office/powerpoint/2010/main" val="206662698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E0F3E3-6AB5-46E4-88C9-269C0CBD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5106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43C2E"/>
                </a:solidFill>
              </a:defRPr>
            </a:pPr>
            <a:r>
              <a:rPr sz="3750" b="1">
                <a:solidFill>
                  <a:srgbClr val="143C2E"/>
                </a:solidFill>
              </a:rPr>
              <a:t>Demo：醫師如何快速看到整理後的重點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CFA3B2AE-5109-446F-8D49-474CBAC3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C18C"/>
          </a:solidFill>
          <a:ln xmlns:a="http://schemas.openxmlformats.org/drawingml/2006/main" w="0">
            <a:solidFill>
              <a:srgbClr val="65C18C"/>
            </a:solidFill>
            <a:prstDash val="solid"/>
          </a:ln>
        </p:spPr>
      </p:sp>
      <p:sp>
        <p:nvSpPr>
          <p:cNvPr id="3" name="page-chip">
            <a:extLst xmlns:a="http://schemas.openxmlformats.org/drawingml/2006/main">
              <a:ext uri="{FF2B5EF4-FFF2-40B4-BE49-F238E27FC236}">
                <a16:creationId xmlns:a16="http://schemas.microsoft.com/office/drawing/2014/main" id="{766D887F-54BB-4CCF-BDCF-D29FA02C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571500"/>
            <a:ext cx="14287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2EA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54D53E-A28C-4DFE-9B3D-3DA573A8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8700" y="666750"/>
            <a:ext cx="1085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3C2E"/>
                </a:solidFill>
              </a:defRPr>
            </a:pPr>
            <a:r>
              <a:rPr sz="1350" b="1">
                <a:solidFill>
                  <a:srgbClr val="143C2E"/>
                </a:solidFill>
              </a:rPr>
              <a:t>第 18 頁</a:t>
            </a:r>
          </a:p>
        </p:txBody>
      </p:sp>
      <p:sp>
        <p:nvSpPr>
          <p:cNvPr id="5" name="placeholder-截圖 1">
            <a:extLst xmlns:a="http://schemas.openxmlformats.org/drawingml/2006/main">
              <a:ext uri="{FF2B5EF4-FFF2-40B4-BE49-F238E27FC236}">
                <a16:creationId xmlns:a16="http://schemas.microsoft.com/office/drawing/2014/main" id="{CBBB125F-6CBF-4C28-901B-A2C27D2F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9921240" cy="8134350"/>
          </a:xfrm>
          <a:prstGeom xmlns:a="http://schemas.openxmlformats.org/drawingml/2006/main" prst="roundRect">
            <a:avLst>
              <a:gd name="adj" fmla="val 1405"/>
            </a:avLst>
          </a:prstGeom>
          <a:solidFill xmlns:a="http://schemas.openxmlformats.org/drawingml/2006/main">
            <a:srgbClr val="E4F2EA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62EA6-729C-485A-808A-68BBBDB2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9467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3C2E"/>
                </a:solidFill>
              </a:defRPr>
            </a:pPr>
            <a:r>
              <a:rPr sz="2100" b="1">
                <a:solidFill>
                  <a:srgbClr val="143C2E"/>
                </a:solidFill>
              </a:rPr>
              <a:t>截圖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717902-7129-4F29-A335-B4DD5696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72150"/>
            <a:ext cx="9467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7D6D"/>
                </a:solidFill>
              </a:defRPr>
            </a:pPr>
            <a:r>
              <a:rPr sz="1350">
                <a:solidFill>
                  <a:srgbClr val="5A7D6D"/>
                </a:solidFill>
              </a:rPr>
              <a:t>Doctor Dashboard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2F8CC7-7D04-4FCF-9A0E-1E99426D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1840" y="1581150"/>
            <a:ext cx="6614160" cy="8134350"/>
          </a:xfrm>
          <a:prstGeom xmlns:a="http://schemas.openxmlformats.org/drawingml/2006/main" prst="roundRect">
            <a:avLst>
              <a:gd name="adj" fmla="val 2304"/>
            </a:avLst>
          </a:prstGeom>
          <a:solidFill xmlns:a="http://schemas.openxmlformats.org/drawingml/2006/main">
            <a:srgbClr val="F4FBF7"/>
          </a:solidFill>
        </p:spPr>
      </p:sp>
      <p:sp>
        <p:nvSpPr>
          <p:cNvPr id="9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8654DFF8-5488-4CCA-ABFF-BB7F7BD6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828800"/>
            <a:ext cx="228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5C18C"/>
                </a:solidFill>
              </a:defRPr>
            </a:pPr>
            <a:r>
              <a:rPr sz="2100" b="1">
                <a:solidFill>
                  <a:srgbClr val="65C18C"/>
                </a:solidFill>
              </a:rPr>
              <a:t>•</a:t>
            </a:r>
          </a:p>
        </p:txBody>
      </p:sp>
      <p:sp>
        <p:nvSpPr>
          <p:cNvPr id="10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5D6C94CE-0EBE-47D2-8B3B-6DB761B7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828800"/>
            <a:ext cx="5753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3C2E"/>
                </a:solidFill>
              </a:defRPr>
            </a:pPr>
            <a:r>
              <a:rPr sz="1800">
                <a:solidFill>
                  <a:srgbClr val="143C2E"/>
                </a:solidFill>
              </a:rPr>
              <a:t>醫師端不看完整原始對話，而是直接看整理後重點</a:t>
            </a:r>
          </a:p>
        </p:txBody>
      </p:sp>
    </p:spTree>
    <p:extLst>
      <p:ext uri="{BB962C8B-B14F-4D97-AF65-F5344CB8AC3E}">
        <p14:creationId xmlns:p14="http://schemas.microsoft.com/office/powerpoint/2010/main" val="172498920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C657D2-0063-4780-B85D-ADB37DCB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5106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43C2E"/>
                </a:solidFill>
              </a:defRPr>
            </a:pPr>
            <a:r>
              <a:rPr sz="3750" b="1">
                <a:solidFill>
                  <a:srgbClr val="143C2E"/>
                </a:solidFill>
              </a:rPr>
              <a:t>Demo：FHIR Preview、驗證與正式交付成果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28DE19E2-1CC3-4956-9FCE-78632739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C18C"/>
          </a:solidFill>
          <a:ln xmlns:a="http://schemas.openxmlformats.org/drawingml/2006/main" w="0">
            <a:solidFill>
              <a:srgbClr val="65C18C"/>
            </a:solidFill>
            <a:prstDash val="solid"/>
          </a:ln>
        </p:spPr>
      </p:sp>
      <p:sp>
        <p:nvSpPr>
          <p:cNvPr id="3" name="page-chip">
            <a:extLst xmlns:a="http://schemas.openxmlformats.org/drawingml/2006/main">
              <a:ext uri="{FF2B5EF4-FFF2-40B4-BE49-F238E27FC236}">
                <a16:creationId xmlns:a16="http://schemas.microsoft.com/office/drawing/2014/main" id="{3F0B8F21-5CC3-4324-8DFF-0CF51F17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571500"/>
            <a:ext cx="14287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2EA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F3957-E0E1-426F-BD55-23DBBDE4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8700" y="666750"/>
            <a:ext cx="1085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3C2E"/>
                </a:solidFill>
              </a:defRPr>
            </a:pPr>
            <a:r>
              <a:rPr sz="1350" b="1">
                <a:solidFill>
                  <a:srgbClr val="143C2E"/>
                </a:solidFill>
              </a:rPr>
              <a:t>第 19 頁</a:t>
            </a:r>
          </a:p>
        </p:txBody>
      </p:sp>
      <p:sp>
        <p:nvSpPr>
          <p:cNvPr id="5" name="placeholder-截圖 1">
            <a:extLst xmlns:a="http://schemas.openxmlformats.org/drawingml/2006/main">
              <a:ext uri="{FF2B5EF4-FFF2-40B4-BE49-F238E27FC236}">
                <a16:creationId xmlns:a16="http://schemas.microsoft.com/office/drawing/2014/main" id="{E3E93EE0-1D75-4FF0-9ACB-EB27C5AA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9921240" cy="8134350"/>
          </a:xfrm>
          <a:prstGeom xmlns:a="http://schemas.openxmlformats.org/drawingml/2006/main" prst="roundRect">
            <a:avLst>
              <a:gd name="adj" fmla="val 1405"/>
            </a:avLst>
          </a:prstGeom>
          <a:solidFill xmlns:a="http://schemas.openxmlformats.org/drawingml/2006/main">
            <a:srgbClr val="E4F2EA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011058-F028-40B6-BBBD-5D6A2B90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9467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3C2E"/>
                </a:solidFill>
              </a:defRPr>
            </a:pPr>
            <a:r>
              <a:rPr sz="2100" b="1">
                <a:solidFill>
                  <a:srgbClr val="143C2E"/>
                </a:solidFill>
              </a:rPr>
              <a:t>截圖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1C795-4C3A-488A-8C97-5D0673AF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72150"/>
            <a:ext cx="9467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7D6D"/>
                </a:solidFill>
              </a:defRPr>
            </a:pPr>
            <a:r>
              <a:rPr sz="1350">
                <a:solidFill>
                  <a:srgbClr val="5A7D6D"/>
                </a:solidFill>
              </a:rPr>
              <a:t>FHIR Preview 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51F004-03D5-4E43-8AE4-BE8DE6B2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1840" y="1581150"/>
            <a:ext cx="6614160" cy="8134350"/>
          </a:xfrm>
          <a:prstGeom xmlns:a="http://schemas.openxmlformats.org/drawingml/2006/main" prst="roundRect">
            <a:avLst>
              <a:gd name="adj" fmla="val 2304"/>
            </a:avLst>
          </a:prstGeom>
          <a:solidFill xmlns:a="http://schemas.openxmlformats.org/drawingml/2006/main">
            <a:srgbClr val="F4FBF7"/>
          </a:solidFill>
        </p:spPr>
      </p:sp>
      <p:sp>
        <p:nvSpPr>
          <p:cNvPr id="9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11454D4A-436B-4B4A-A956-57770B4B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828800"/>
            <a:ext cx="228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5C18C"/>
                </a:solidFill>
              </a:defRPr>
            </a:pPr>
            <a:r>
              <a:rPr sz="2100" b="1">
                <a:solidFill>
                  <a:srgbClr val="65C18C"/>
                </a:solidFill>
              </a:rPr>
              <a:t>•</a:t>
            </a:r>
          </a:p>
        </p:txBody>
      </p:sp>
      <p:sp>
        <p:nvSpPr>
          <p:cNvPr id="10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695E2F2D-C8B9-49AD-B832-FB4F5062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828800"/>
            <a:ext cx="5753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3C2E"/>
                </a:solidFill>
              </a:defRPr>
            </a:pPr>
            <a:r>
              <a:rPr sz="1800">
                <a:solidFill>
                  <a:srgbClr val="143C2E"/>
                </a:solidFill>
              </a:rPr>
              <a:t>對話與量表結果最後會整理成 FHIR Bundle</a:t>
            </a:r>
          </a:p>
        </p:txBody>
      </p:sp>
    </p:spTree>
    <p:extLst>
      <p:ext uri="{BB962C8B-B14F-4D97-AF65-F5344CB8AC3E}">
        <p14:creationId xmlns:p14="http://schemas.microsoft.com/office/powerpoint/2010/main" val="122096452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3C6118-584C-4C0E-B81A-ABB97860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5106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43C2E"/>
                </a:solidFill>
              </a:defRPr>
            </a:pPr>
            <a:r>
              <a:rPr sz="3750" b="1">
                <a:solidFill>
                  <a:srgbClr val="143C2E"/>
                </a:solidFill>
              </a:rPr>
              <a:t>與 AI 的互動，不只是使用工具，而是管理輸出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FA9FA223-2453-4FB3-BCCE-EF611923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C18C"/>
          </a:solidFill>
          <a:ln xmlns:a="http://schemas.openxmlformats.org/drawingml/2006/main" w="0">
            <a:solidFill>
              <a:srgbClr val="65C18C"/>
            </a:solidFill>
            <a:prstDash val="solid"/>
          </a:ln>
        </p:spPr>
      </p:sp>
      <p:sp>
        <p:nvSpPr>
          <p:cNvPr id="3" name="page-chip">
            <a:extLst xmlns:a="http://schemas.openxmlformats.org/drawingml/2006/main">
              <a:ext uri="{FF2B5EF4-FFF2-40B4-BE49-F238E27FC236}">
                <a16:creationId xmlns:a16="http://schemas.microsoft.com/office/drawing/2014/main" id="{0DA70700-E386-4F07-8AB5-127E6660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571500"/>
            <a:ext cx="14287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2EA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ABAE7-3560-42CD-9C82-ECAE3DE6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8700" y="666750"/>
            <a:ext cx="1085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3C2E"/>
                </a:solidFill>
              </a:defRPr>
            </a:pPr>
            <a:r>
              <a:rPr sz="1350" b="1">
                <a:solidFill>
                  <a:srgbClr val="143C2E"/>
                </a:solidFill>
              </a:rPr>
              <a:t>第 20 頁</a:t>
            </a:r>
          </a:p>
        </p:txBody>
      </p:sp>
      <p:sp>
        <p:nvSpPr>
          <p:cNvPr id="5" name="placeholder-截圖 1">
            <a:extLst xmlns:a="http://schemas.openxmlformats.org/drawingml/2006/main">
              <a:ext uri="{FF2B5EF4-FFF2-40B4-BE49-F238E27FC236}">
                <a16:creationId xmlns:a16="http://schemas.microsoft.com/office/drawing/2014/main" id="{7106786B-5211-4356-8AA5-4CD19DA8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9921240" cy="8134350"/>
          </a:xfrm>
          <a:prstGeom xmlns:a="http://schemas.openxmlformats.org/drawingml/2006/main" prst="roundRect">
            <a:avLst>
              <a:gd name="adj" fmla="val 1405"/>
            </a:avLst>
          </a:prstGeom>
          <a:solidFill xmlns:a="http://schemas.openxmlformats.org/drawingml/2006/main">
            <a:srgbClr val="E4F2EA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EC347-689B-407A-99F5-2CEB0A03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9467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3C2E"/>
                </a:solidFill>
              </a:defRPr>
            </a:pPr>
            <a:r>
              <a:rPr sz="2100" b="1">
                <a:solidFill>
                  <a:srgbClr val="143C2E"/>
                </a:solidFill>
              </a:rPr>
              <a:t>截圖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68E99-6A70-4ACA-B04C-31618F27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72150"/>
            <a:ext cx="9467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7D6D"/>
                </a:solidFill>
              </a:defRPr>
            </a:pPr>
            <a:r>
              <a:rPr sz="1350">
                <a:solidFill>
                  <a:srgbClr val="5A7D6D"/>
                </a:solidFill>
              </a:rPr>
              <a:t>拆解需求的對話截圖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FE615-A9C9-4B58-82DC-F73D87FB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1840" y="1581150"/>
            <a:ext cx="6614160" cy="8134350"/>
          </a:xfrm>
          <a:prstGeom xmlns:a="http://schemas.openxmlformats.org/drawingml/2006/main" prst="roundRect">
            <a:avLst>
              <a:gd name="adj" fmla="val 2304"/>
            </a:avLst>
          </a:prstGeom>
          <a:solidFill xmlns:a="http://schemas.openxmlformats.org/drawingml/2006/main">
            <a:srgbClr val="F4FBF7"/>
          </a:solidFill>
        </p:spPr>
      </p:sp>
      <p:sp>
        <p:nvSpPr>
          <p:cNvPr id="9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FCDEA889-4239-4A6F-869D-53A65439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828800"/>
            <a:ext cx="228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5C18C"/>
                </a:solidFill>
              </a:defRPr>
            </a:pPr>
            <a:r>
              <a:rPr sz="2100" b="1">
                <a:solidFill>
                  <a:srgbClr val="65C18C"/>
                </a:solidFill>
              </a:rPr>
              <a:t>•</a:t>
            </a:r>
          </a:p>
        </p:txBody>
      </p:sp>
      <p:sp>
        <p:nvSpPr>
          <p:cNvPr id="10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C96BBE8F-45E8-42DF-B224-3A59BBF0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828800"/>
            <a:ext cx="5753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3C2E"/>
                </a:solidFill>
              </a:defRPr>
            </a:pPr>
            <a:r>
              <a:rPr sz="1800">
                <a:solidFill>
                  <a:srgbClr val="143C2E"/>
                </a:solidFill>
              </a:rPr>
              <a:t>與 AI 的合作更像管理多位不同專長的協作者</a:t>
            </a:r>
          </a:p>
        </p:txBody>
      </p:sp>
    </p:spTree>
    <p:extLst>
      <p:ext uri="{BB962C8B-B14F-4D97-AF65-F5344CB8AC3E}">
        <p14:creationId xmlns:p14="http://schemas.microsoft.com/office/powerpoint/2010/main" val="77574527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EE0CD6-899E-45BB-90E1-97FCAEB2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5106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43C2E"/>
                </a:solidFill>
              </a:defRPr>
            </a:pPr>
            <a:r>
              <a:rPr sz="3750" b="1">
                <a:solidFill>
                  <a:srgbClr val="143C2E"/>
                </a:solidFill>
              </a:rPr>
              <a:t>學習心得：從堆功能走向以人為本與系統責任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8AB52BCD-F3FE-4BC6-A5EB-43541925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C18C"/>
          </a:solidFill>
          <a:ln xmlns:a="http://schemas.openxmlformats.org/drawingml/2006/main" w="0">
            <a:solidFill>
              <a:srgbClr val="65C18C"/>
            </a:solidFill>
            <a:prstDash val="solid"/>
          </a:ln>
        </p:spPr>
      </p:sp>
      <p:sp>
        <p:nvSpPr>
          <p:cNvPr id="3" name="page-chip">
            <a:extLst xmlns:a="http://schemas.openxmlformats.org/drawingml/2006/main">
              <a:ext uri="{FF2B5EF4-FFF2-40B4-BE49-F238E27FC236}">
                <a16:creationId xmlns:a16="http://schemas.microsoft.com/office/drawing/2014/main" id="{13291FB7-E1CB-45DD-91FC-2B17BD3E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571500"/>
            <a:ext cx="14287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2EA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A45DB-988A-459F-BC7F-3B3C1DB9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8700" y="666750"/>
            <a:ext cx="1085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3C2E"/>
                </a:solidFill>
              </a:defRPr>
            </a:pPr>
            <a:r>
              <a:rPr sz="1350" b="1">
                <a:solidFill>
                  <a:srgbClr val="143C2E"/>
                </a:solidFill>
              </a:rPr>
              <a:t>第 21 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FF4DA5-D3AA-48E5-8804-0C1CA513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8661083" cy="8134350"/>
          </a:xfrm>
          <a:prstGeom xmlns:a="http://schemas.openxmlformats.org/drawingml/2006/main" prst="roundRect">
            <a:avLst>
              <a:gd name="adj" fmla="val 1874"/>
            </a:avLst>
          </a:prstGeom>
          <a:solidFill xmlns:a="http://schemas.openxmlformats.org/drawingml/2006/main">
            <a:srgbClr val="F4FBF7"/>
          </a:solidFill>
        </p:spPr>
      </p:sp>
      <p:sp>
        <p:nvSpPr>
          <p:cNvPr id="6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49A75134-FF4C-41B3-B47F-D46FB7EF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47850"/>
            <a:ext cx="228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5C18C"/>
                </a:solidFill>
              </a:defRPr>
            </a:pPr>
            <a:r>
              <a:rPr sz="2100" b="1">
                <a:solidFill>
                  <a:srgbClr val="65C18C"/>
                </a:solidFill>
              </a:rPr>
              <a:t>•</a:t>
            </a:r>
          </a:p>
        </p:txBody>
      </p:sp>
      <p:sp>
        <p:nvSpPr>
          <p:cNvPr id="7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BD93A4FC-941F-40A5-B9CD-8614F805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47850"/>
            <a:ext cx="7772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3C2E"/>
                </a:solidFill>
              </a:defRPr>
            </a:pPr>
            <a:r>
              <a:rPr sz="1800">
                <a:solidFill>
                  <a:srgbClr val="143C2E"/>
                </a:solidFill>
              </a:rPr>
              <a:t>真正重要的不是做更多功能，而是留下最有價值的部分</a:t>
            </a:r>
          </a:p>
        </p:txBody>
      </p:sp>
      <p:sp>
        <p:nvSpPr>
          <p:cNvPr id="8" name="placeholder-精華截錄">
            <a:extLst xmlns:a="http://schemas.openxmlformats.org/drawingml/2006/main">
              <a:ext uri="{FF2B5EF4-FFF2-40B4-BE49-F238E27FC236}">
                <a16:creationId xmlns:a16="http://schemas.microsoft.com/office/drawing/2014/main" id="{94957408-A89B-4CC4-BEBD-70C6A7FF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783" y="1581150"/>
            <a:ext cx="7836217" cy="7292340"/>
          </a:xfrm>
          <a:prstGeom xmlns:a="http://schemas.openxmlformats.org/drawingml/2006/main" prst="roundRect">
            <a:avLst>
              <a:gd name="adj" fmla="val 1567"/>
            </a:avLst>
          </a:prstGeom>
          <a:solidFill xmlns:a="http://schemas.openxmlformats.org/drawingml/2006/main">
            <a:srgbClr val="E4F2EA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8D8E66-4647-467A-A2A9-377AA1DA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914900"/>
            <a:ext cx="7372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3C2E"/>
                </a:solidFill>
              </a:defRPr>
            </a:pPr>
            <a:r>
              <a:rPr sz="2100" b="1">
                <a:solidFill>
                  <a:srgbClr val="143C2E"/>
                </a:solidFill>
              </a:rPr>
              <a:t>精華截錄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F27D21-6ED9-42FF-AD54-56DFEA7F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334000"/>
            <a:ext cx="7372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7D6D"/>
                </a:solidFill>
              </a:defRPr>
            </a:pPr>
            <a:r>
              <a:rPr sz="1350">
                <a:solidFill>
                  <a:srgbClr val="5A7D6D"/>
                </a:solidFill>
              </a:rPr>
              <a:t>建議截取 AI協作使用模式分析 或 學習心得文件中的一句核心反思。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30D9F6-E64E-4D7B-9934-769B767F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783" y="9044940"/>
            <a:ext cx="7836217" cy="670560"/>
          </a:xfrm>
          <a:prstGeom xmlns:a="http://schemas.openxmlformats.org/drawingml/2006/main" prst="roundRect">
            <a:avLst>
              <a:gd name="adj" fmla="val 17045"/>
            </a:avLst>
          </a:prstGeom>
          <a:solidFill xmlns:a="http://schemas.openxmlformats.org/drawingml/2006/main">
            <a:srgbClr val="EEF8F1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F413B-D421-4E65-AE8F-C2434A5B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258300"/>
            <a:ext cx="7410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C2E"/>
                </a:solidFill>
              </a:defRPr>
            </a:pPr>
            <a:r>
              <a:rPr sz="1650" b="1">
                <a:solidFill>
                  <a:srgbClr val="143C2E"/>
                </a:solidFill>
              </a:rPr>
              <a:t>以人為本、Human-in-the-loop、對最終成果負責</a:t>
            </a:r>
          </a:p>
        </p:txBody>
      </p:sp>
    </p:spTree>
    <p:extLst>
      <p:ext uri="{BB962C8B-B14F-4D97-AF65-F5344CB8AC3E}">
        <p14:creationId xmlns:p14="http://schemas.microsoft.com/office/powerpoint/2010/main" val="130230101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764DD7-9C2C-49B2-8F53-88925F98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5106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結語：讓 AI 先接住病人，再把重要資訊整理給醫師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ACFCC6-0892-44FA-8151-D30FD2C1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E0AD"/>
          </a:solidFill>
          <a:ln xmlns:a="http://schemas.openxmlformats.org/drawingml/2006/main" w="0">
            <a:solidFill>
              <a:srgbClr val="9DE0AD"/>
            </a:solidFill>
            <a:prstDash val="solid"/>
          </a:ln>
        </p:spPr>
      </p:sp>
      <p:sp>
        <p:nvSpPr>
          <p:cNvPr id="3" name="page-chip">
            <a:extLst xmlns:a="http://schemas.openxmlformats.org/drawingml/2006/main">
              <a:ext uri="{FF2B5EF4-FFF2-40B4-BE49-F238E27FC236}">
                <a16:creationId xmlns:a16="http://schemas.microsoft.com/office/drawing/2014/main" id="{791B8744-9517-4BDC-A2C4-63E04802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571500"/>
            <a:ext cx="14287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D46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5FFED-23B6-4760-8C85-D7EB61EF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8700" y="666750"/>
            <a:ext cx="1085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第 22 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D5F2C-2920-4EAD-93D3-E14A6058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5480"/>
            <a:ext cx="685800" cy="644652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84C38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BCA68-69C6-4187-A88A-73AB3580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29650"/>
            <a:ext cx="16764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謝謝聆聽</a:t>
            </a:r>
          </a:p>
        </p:txBody>
      </p:sp>
    </p:spTree>
    <p:extLst>
      <p:ext uri="{BB962C8B-B14F-4D97-AF65-F5344CB8AC3E}">
        <p14:creationId xmlns:p14="http://schemas.microsoft.com/office/powerpoint/2010/main" val="5412990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2026-05-01T04:33:57.1190000Z</dcterms:created>
  <dcterms:modified xsi:type="dcterms:W3CDTF">2026-05-01T04:33:57.1200000Z</dcterms:modified>
</coreProperties>
</file>